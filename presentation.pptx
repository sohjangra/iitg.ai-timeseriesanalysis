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embeddedFontLst>
    <p:embeddedFont>
      <p:font typeface="Consolas" panose="020B0609020204030204" pitchFamily="49" charset="0"/>
      <p:regular r:id="rId8"/>
      <p:bold r:id="rId9"/>
      <p:italic r:id="rId10"/>
      <p:boldItalic r:id="rId11"/>
    </p:embeddedFont>
    <p:embeddedFont>
      <p:font typeface="IBM Plex Mono" panose="020B0509050203000203" pitchFamily="49" charset="0"/>
      <p:regular r:id="rId12"/>
    </p:embeddedFont>
    <p:embeddedFont>
      <p:font typeface="IBM Plex Mono Bold" panose="020B0809050203000203" charset="0"/>
      <p:regular r:id="rId13"/>
    </p:embeddedFont>
    <p:embeddedFont>
      <p:font typeface="IBM Plex Mono Medium" panose="020B0609050203000203" pitchFamily="49" charset="0"/>
      <p:regular r:id="rId14"/>
    </p:embeddedFont>
    <p:embeddedFont>
      <p:font typeface="IBM Plex Mono SemiBold" panose="020B0709050203000203" pitchFamily="49"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2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873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17"/>
          </a:solidFill>
          <a:ln/>
        </p:spPr>
      </p:sp>
      <p:pic>
        <p:nvPicPr>
          <p:cNvPr id="3"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5"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17"/>
          </a:solidFill>
          <a:ln/>
        </p:spPr>
      </p:sp>
      <p:pic>
        <p:nvPicPr>
          <p:cNvPr id="3"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12700" y="12700"/>
            <a:ext cx="12166296" cy="6832600"/>
          </a:xfrm>
          <a:prstGeom prst="rect">
            <a:avLst/>
          </a:prstGeom>
          <a:noFill/>
          <a:ln w="19050">
            <a:solidFill>
              <a:srgbClr val="2E6D3F"/>
            </a:solidFill>
            <a:prstDash val="solid"/>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17"/>
          </a:solidFill>
          <a:ln/>
        </p:spPr>
      </p:sp>
      <p:pic>
        <p:nvPicPr>
          <p:cNvPr id="3"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17"/>
          </a:solidFill>
          <a:ln/>
        </p:spPr>
      </p:sp>
      <p:pic>
        <p:nvPicPr>
          <p:cNvPr id="3"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5"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17"/>
          </a:solidFill>
          <a:ln/>
        </p:spPr>
      </p:sp>
      <p:pic>
        <p:nvPicPr>
          <p:cNvPr id="3"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pic>
        <p:nvPicPr>
          <p:cNvPr id="5"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5399" y="25400"/>
            <a:ext cx="12140896" cy="567234"/>
          </a:xfrm>
          <a:prstGeom prst="rect">
            <a:avLst/>
          </a:prstGeom>
          <a:solidFill>
            <a:srgbClr val="17231C"/>
          </a:solidFill>
          <a:ln w="6350">
            <a:solidFill>
              <a:srgbClr val="2E6D3F"/>
            </a:solidFill>
            <a:prstDash val="solid"/>
          </a:ln>
        </p:spPr>
      </p:sp>
      <p:sp>
        <p:nvSpPr>
          <p:cNvPr id="3" name="Text 1"/>
          <p:cNvSpPr/>
          <p:nvPr/>
        </p:nvSpPr>
        <p:spPr>
          <a:xfrm>
            <a:off x="717532" y="590550"/>
            <a:ext cx="2171745"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ETH.QUANT — /EXECUTIVE/SUMMARY</a:t>
            </a:r>
            <a:endParaRPr lang="en-US" sz="750" dirty="0"/>
          </a:p>
        </p:txBody>
      </p:sp>
      <p:sp>
        <p:nvSpPr>
          <p:cNvPr id="4" name="Text 2"/>
          <p:cNvSpPr/>
          <p:nvPr/>
        </p:nvSpPr>
        <p:spPr>
          <a:xfrm>
            <a:off x="10823205" y="590550"/>
            <a:ext cx="1108146"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 [□] [X]</a:t>
            </a:r>
            <a:endParaRPr lang="en-US" sz="750" dirty="0"/>
          </a:p>
        </p:txBody>
      </p:sp>
      <p:sp>
        <p:nvSpPr>
          <p:cNvPr id="5" name="Shape 3"/>
          <p:cNvSpPr/>
          <p:nvPr/>
        </p:nvSpPr>
        <p:spPr>
          <a:xfrm>
            <a:off x="25399" y="592634"/>
            <a:ext cx="12140896" cy="5672634"/>
          </a:xfrm>
          <a:prstGeom prst="rect">
            <a:avLst/>
          </a:prstGeom>
          <a:solidFill>
            <a:srgbClr val="07110C"/>
          </a:solidFill>
          <a:ln/>
        </p:spPr>
      </p:sp>
      <p:pic>
        <p:nvPicPr>
          <p:cNvPr id="6" name="Image 0" descr="preencoded.png"/>
          <p:cNvPicPr>
            <a:picLocks noChangeAspect="1"/>
          </p:cNvPicPr>
          <p:nvPr/>
        </p:nvPicPr>
        <p:blipFill>
          <a:blip r:embed="rId3"/>
          <a:stretch>
            <a:fillRect/>
          </a:stretch>
        </p:blipFill>
        <p:spPr>
          <a:xfrm>
            <a:off x="203195" y="770434"/>
            <a:ext cx="11785305" cy="4435574"/>
          </a:xfrm>
          <a:prstGeom prst="rect">
            <a:avLst/>
          </a:prstGeom>
        </p:spPr>
      </p:pic>
      <p:sp>
        <p:nvSpPr>
          <p:cNvPr id="7" name="Text 4"/>
          <p:cNvSpPr/>
          <p:nvPr/>
        </p:nvSpPr>
        <p:spPr>
          <a:xfrm>
            <a:off x="444489" y="1011734"/>
            <a:ext cx="7023321" cy="119063"/>
          </a:xfrm>
          <a:prstGeom prst="rect">
            <a:avLst/>
          </a:prstGeom>
          <a:noFill/>
          <a:ln/>
        </p:spPr>
        <p:txBody>
          <a:bodyPr wrap="none" lIns="0" tIns="0" rIns="0" bIns="0" rtlCol="0" anchor="t"/>
          <a:lstStyle/>
          <a:p>
            <a:pPr marL="0" indent="0" algn="l">
              <a:lnSpc>
                <a:spcPct val="104000"/>
              </a:lnSpc>
              <a:buNone/>
            </a:pPr>
            <a:r>
              <a:rPr lang="en-US" sz="750" kern="0" spc="60" dirty="0">
                <a:solidFill>
                  <a:srgbClr val="B8F7C2"/>
                </a:solidFill>
                <a:latin typeface="IBM Plex Mono SemiBold" pitchFamily="34" charset="0"/>
                <a:ea typeface="IBM Plex Mono SemiBold" pitchFamily="34" charset="-122"/>
                <a:cs typeface="IBM Plex Mono SemiBold" pitchFamily="34" charset="-120"/>
              </a:rPr>
              <a:t>EXECUTIVE SUMMARY &amp; STRATEGY FOUNDATIONS</a:t>
            </a:r>
            <a:endParaRPr lang="en-US" sz="750" dirty="0"/>
          </a:p>
        </p:txBody>
      </p:sp>
      <p:sp>
        <p:nvSpPr>
          <p:cNvPr id="8" name="Text 5"/>
          <p:cNvSpPr/>
          <p:nvPr/>
        </p:nvSpPr>
        <p:spPr>
          <a:xfrm>
            <a:off x="444489" y="1159371"/>
            <a:ext cx="6794727" cy="295275"/>
          </a:xfrm>
          <a:prstGeom prst="rect">
            <a:avLst/>
          </a:prstGeom>
          <a:noFill/>
          <a:ln/>
        </p:spPr>
        <p:txBody>
          <a:bodyPr wrap="none" lIns="0" tIns="0" rIns="0" bIns="0" rtlCol="0" anchor="t"/>
          <a:lstStyle/>
          <a:p>
            <a:pPr marL="0" indent="0" algn="l">
              <a:lnSpc>
                <a:spcPct val="85000"/>
              </a:lnSpc>
              <a:buNone/>
            </a:pPr>
            <a:r>
              <a:rPr lang="en-US" sz="2300" kern="0" spc="-57" dirty="0">
                <a:solidFill>
                  <a:srgbClr val="B8F7C2"/>
                </a:solidFill>
                <a:latin typeface="IBM Plex Mono SemiBold" pitchFamily="34" charset="0"/>
                <a:ea typeface="IBM Plex Mono SemiBold" pitchFamily="34" charset="-122"/>
                <a:cs typeface="IBM Plex Mono SemiBold" pitchFamily="34" charset="-120"/>
              </a:rPr>
              <a:t>EXECUTIVE SUMMARY &amp; STRATEGY FOUNDATIONS</a:t>
            </a:r>
            <a:endParaRPr lang="en-US" sz="2300" dirty="0"/>
          </a:p>
        </p:txBody>
      </p:sp>
      <p:sp>
        <p:nvSpPr>
          <p:cNvPr id="9" name="Text 6"/>
          <p:cNvSpPr/>
          <p:nvPr/>
        </p:nvSpPr>
        <p:spPr>
          <a:xfrm>
            <a:off x="444489" y="1525488"/>
            <a:ext cx="7023321" cy="135830"/>
          </a:xfrm>
          <a:prstGeom prst="rect">
            <a:avLst/>
          </a:prstGeom>
          <a:noFill/>
          <a:ln/>
        </p:spPr>
        <p:txBody>
          <a:bodyPr wrap="none" lIns="0" tIns="0" rIns="0" bIns="0" rtlCol="0" anchor="t"/>
          <a:lstStyle/>
          <a:p>
            <a:pPr marL="0" indent="0" algn="l">
              <a:lnSpc>
                <a:spcPct val="89000"/>
              </a:lnSpc>
              <a:buNone/>
            </a:pPr>
            <a:r>
              <a:rPr lang="en-US" sz="850" b="1" dirty="0">
                <a:solidFill>
                  <a:srgbClr val="B8F7C2"/>
                </a:solidFill>
                <a:latin typeface="IBM Plex Mono Bold" pitchFamily="34" charset="0"/>
                <a:ea typeface="IBM Plex Mono Bold" pitchFamily="34" charset="-122"/>
                <a:cs typeface="IBM Plex Mono Bold" pitchFamily="34" charset="-120"/>
              </a:rPr>
              <a:t>ETH/USDT 10-Minute Market Horizon | Data Horizon: 2024–2025 (</a:t>
            </a:r>
            <a:r>
              <a:rPr lang="en-US" sz="800" i="1" dirty="0">
                <a:solidFill>
                  <a:srgbClr val="B8F7C2"/>
                </a:solidFill>
                <a:latin typeface="Consolas" pitchFamily="34" charset="0"/>
                <a:ea typeface="Consolas" pitchFamily="34" charset="-122"/>
                <a:cs typeface="Consolas" pitchFamily="34" charset="-120"/>
              </a:rPr>
              <a:t>      </a:t>
            </a:r>
            <a:r>
              <a:rPr lang="en-US" sz="850" b="1" dirty="0">
                <a:solidFill>
                  <a:srgbClr val="B8F7C2"/>
                </a:solidFill>
                <a:latin typeface="IBM Plex Mono Bold" pitchFamily="34" charset="0"/>
                <a:ea typeface="IBM Plex Mono Bold" pitchFamily="34" charset="-122"/>
                <a:cs typeface="IBM Plex Mono Bold" pitchFamily="34" charset="-120"/>
              </a:rPr>
              <a:t> Bars)</a:t>
            </a:r>
            <a:endParaRPr lang="en-US" sz="850" dirty="0"/>
          </a:p>
        </p:txBody>
      </p:sp>
      <p:pic>
        <p:nvPicPr>
          <p:cNvPr id="10" name="Image 1" descr="preencoded.png"/>
          <p:cNvPicPr>
            <a:picLocks noChangeAspect="1"/>
          </p:cNvPicPr>
          <p:nvPr/>
        </p:nvPicPr>
        <p:blipFill>
          <a:blip r:embed="rId4"/>
          <a:stretch>
            <a:fillRect/>
          </a:stretch>
        </p:blipFill>
        <p:spPr>
          <a:xfrm>
            <a:off x="4486262" y="1525488"/>
            <a:ext cx="560274" cy="135830"/>
          </a:xfrm>
          <a:prstGeom prst="rect">
            <a:avLst/>
          </a:prstGeom>
        </p:spPr>
      </p:pic>
      <p:sp>
        <p:nvSpPr>
          <p:cNvPr id="11" name="Text 7"/>
          <p:cNvSpPr/>
          <p:nvPr/>
        </p:nvSpPr>
        <p:spPr>
          <a:xfrm>
            <a:off x="444489" y="1725315"/>
            <a:ext cx="6794727" cy="228501"/>
          </a:xfrm>
          <a:prstGeom prst="rect">
            <a:avLst/>
          </a:prstGeom>
          <a:noFill/>
          <a:ln/>
        </p:spPr>
        <p:txBody>
          <a:bodyPr wrap="none" lIns="0" tIns="0" rIns="0" bIns="0" rtlCol="0" anchor="t"/>
          <a:lstStyle/>
          <a:p>
            <a:pPr marL="0" indent="0" algn="l">
              <a:lnSpc>
                <a:spcPct val="104000"/>
              </a:lnSpc>
              <a:buNone/>
            </a:pPr>
            <a:r>
              <a:rPr lang="en-US" sz="1450" dirty="0">
                <a:solidFill>
                  <a:srgbClr val="B8F7C2"/>
                </a:solidFill>
                <a:latin typeface="IBM Plex Mono Medium" pitchFamily="34" charset="0"/>
                <a:ea typeface="IBM Plex Mono Medium" pitchFamily="34" charset="-122"/>
                <a:cs typeface="IBM Plex Mono Medium" pitchFamily="34" charset="-120"/>
              </a:rPr>
              <a:t>Strategy Concept &amp; Operational Mechanics</a:t>
            </a:r>
            <a:endParaRPr lang="en-US" sz="1450" dirty="0"/>
          </a:p>
        </p:txBody>
      </p:sp>
      <p:sp>
        <p:nvSpPr>
          <p:cNvPr id="12" name="Text 8"/>
          <p:cNvSpPr/>
          <p:nvPr/>
        </p:nvSpPr>
        <p:spPr>
          <a:xfrm>
            <a:off x="444489" y="2005211"/>
            <a:ext cx="6794727" cy="473869"/>
          </a:xfrm>
          <a:prstGeom prst="rect">
            <a:avLst/>
          </a:prstGeom>
          <a:noFill/>
          <a:ln/>
        </p:spPr>
        <p:txBody>
          <a:bodyPr wrap="square" lIns="0" tIns="0" rIns="0" bIns="0" rtlCol="0" anchor="t">
            <a:normAutofit/>
          </a:bodyPr>
          <a:lstStyle/>
          <a:p>
            <a:pPr marL="172720" indent="-172720" algn="l">
              <a:lnSpc>
                <a:spcPct val="89000"/>
              </a:lnSpc>
              <a:buSzPct val="100000"/>
              <a:buChar char="•"/>
            </a:pPr>
            <a:r>
              <a:rPr lang="en-US" sz="850" b="1" dirty="0">
                <a:solidFill>
                  <a:srgbClr val="B8F7C2"/>
                </a:solidFill>
                <a:latin typeface="IBM Plex Mono Bold" pitchFamily="34" charset="0"/>
                <a:ea typeface="IBM Plex Mono Bold" pitchFamily="34" charset="-122"/>
                <a:cs typeface="IBM Plex Mono Bold" pitchFamily="34" charset="-120"/>
              </a:rPr>
              <a:t>Core Philosophy:</a:t>
            </a:r>
            <a:r>
              <a:rPr lang="en-US" sz="850" dirty="0">
                <a:solidFill>
                  <a:srgbClr val="B8F7C2"/>
                </a:solidFill>
                <a:latin typeface="IBM Plex Mono" pitchFamily="34" charset="0"/>
                <a:ea typeface="IBM Plex Mono" pitchFamily="34" charset="-122"/>
                <a:cs typeface="IBM Plex Mono" pitchFamily="34" charset="-120"/>
              </a:rPr>
              <a:t> Crypto asset prices exhibit extreme volatility clustering. Instead of guessing market direction during noise, the strategy identifies "volatility squeezes"—periods of ultra-low volatility compression—and prepares to enter immediately before explosive directional breakouts occur.</a:t>
            </a:r>
            <a:endParaRPr lang="en-US" sz="850" dirty="0"/>
          </a:p>
        </p:txBody>
      </p:sp>
      <p:sp>
        <p:nvSpPr>
          <p:cNvPr id="13" name="Text 9"/>
          <p:cNvSpPr/>
          <p:nvPr/>
        </p:nvSpPr>
        <p:spPr>
          <a:xfrm>
            <a:off x="444489" y="2497336"/>
            <a:ext cx="6794727" cy="372765"/>
          </a:xfrm>
          <a:prstGeom prst="rect">
            <a:avLst/>
          </a:prstGeom>
          <a:noFill/>
          <a:ln/>
        </p:spPr>
        <p:txBody>
          <a:bodyPr wrap="square" lIns="0" tIns="0" rIns="0" bIns="0" rtlCol="0" anchor="t">
            <a:normAutofit/>
          </a:bodyPr>
          <a:lstStyle/>
          <a:p>
            <a:pPr marL="172720" indent="-172720" algn="l">
              <a:lnSpc>
                <a:spcPct val="89000"/>
              </a:lnSpc>
              <a:buSzPct val="100000"/>
              <a:buChar char="•"/>
            </a:pPr>
            <a:r>
              <a:rPr lang="en-US" sz="850" b="1" dirty="0">
                <a:solidFill>
                  <a:srgbClr val="B8F7C2"/>
                </a:solidFill>
                <a:latin typeface="IBM Plex Mono Bold" pitchFamily="34" charset="0"/>
                <a:ea typeface="IBM Plex Mono Bold" pitchFamily="34" charset="-122"/>
                <a:cs typeface="IBM Plex Mono Bold" pitchFamily="34" charset="-120"/>
              </a:rPr>
              <a:t>Training Data Foundation:</a:t>
            </a:r>
            <a:r>
              <a:rPr lang="en-US" sz="850" dirty="0">
                <a:solidFill>
                  <a:srgbClr val="B8F7C2"/>
                </a:solidFill>
                <a:latin typeface="IBM Plex Mono" pitchFamily="34" charset="0"/>
                <a:ea typeface="IBM Plex Mono" pitchFamily="34" charset="-122"/>
                <a:cs typeface="IBM Plex Mono" pitchFamily="34" charset="-120"/>
              </a:rPr>
              <a:t> Deep learning models were trained and backtested on high-frequency 10-minute ETH/USDT market bars spanning 2024 to 2025 (</a:t>
            </a:r>
            <a:r>
              <a:rPr lang="en-US" sz="800" i="1" dirty="0">
                <a:solidFill>
                  <a:srgbClr val="B8F7C2"/>
                </a:solidFill>
                <a:latin typeface="Consolas" pitchFamily="34" charset="0"/>
                <a:ea typeface="Consolas" pitchFamily="34" charset="-122"/>
                <a:cs typeface="Consolas" pitchFamily="34" charset="-120"/>
              </a:rPr>
              <a:t>      </a:t>
            </a:r>
            <a:r>
              <a:rPr lang="en-US" sz="850" dirty="0">
                <a:solidFill>
                  <a:srgbClr val="B8F7C2"/>
                </a:solidFill>
                <a:latin typeface="IBM Plex Mono" pitchFamily="34" charset="0"/>
                <a:ea typeface="IBM Plex Mono" pitchFamily="34" charset="-122"/>
                <a:cs typeface="IBM Plex Mono" pitchFamily="34" charset="-120"/>
              </a:rPr>
              <a:t> bars), capturing diverse bull, bear, and sideways market regimes.</a:t>
            </a:r>
            <a:endParaRPr lang="en-US" sz="850" dirty="0"/>
          </a:p>
        </p:txBody>
      </p:sp>
      <p:pic>
        <p:nvPicPr>
          <p:cNvPr id="14" name="Image 2" descr="preencoded.png"/>
          <p:cNvPicPr>
            <a:picLocks noChangeAspect="1"/>
          </p:cNvPicPr>
          <p:nvPr/>
        </p:nvPicPr>
        <p:blipFill>
          <a:blip r:embed="rId4"/>
          <a:stretch>
            <a:fillRect/>
          </a:stretch>
        </p:blipFill>
        <p:spPr>
          <a:xfrm>
            <a:off x="4000301" y="2615803"/>
            <a:ext cx="560274" cy="135830"/>
          </a:xfrm>
          <a:prstGeom prst="rect">
            <a:avLst/>
          </a:prstGeom>
        </p:spPr>
      </p:pic>
      <p:sp>
        <p:nvSpPr>
          <p:cNvPr id="15" name="Text 10"/>
          <p:cNvSpPr/>
          <p:nvPr/>
        </p:nvSpPr>
        <p:spPr>
          <a:xfrm>
            <a:off x="444489" y="2888357"/>
            <a:ext cx="6794727" cy="236934"/>
          </a:xfrm>
          <a:prstGeom prst="rect">
            <a:avLst/>
          </a:prstGeom>
          <a:noFill/>
          <a:ln/>
        </p:spPr>
        <p:txBody>
          <a:bodyPr wrap="square" lIns="0" tIns="0" rIns="0" bIns="0" rtlCol="0" anchor="t">
            <a:normAutofit/>
          </a:bodyPr>
          <a:lstStyle/>
          <a:p>
            <a:pPr marL="172720" indent="-172720" algn="l">
              <a:lnSpc>
                <a:spcPct val="89000"/>
              </a:lnSpc>
              <a:buSzPct val="100000"/>
              <a:buChar char="•"/>
            </a:pPr>
            <a:r>
              <a:rPr lang="en-US" sz="850" b="1" dirty="0">
                <a:solidFill>
                  <a:srgbClr val="B8F7C2"/>
                </a:solidFill>
                <a:latin typeface="IBM Plex Mono Bold" pitchFamily="34" charset="0"/>
                <a:ea typeface="IBM Plex Mono Bold" pitchFamily="34" charset="-122"/>
                <a:cs typeface="IBM Plex Mono Bold" pitchFamily="34" charset="-120"/>
              </a:rPr>
              <a:t>Signal &amp; Trigger Flow:</a:t>
            </a:r>
            <a:r>
              <a:rPr lang="en-US" sz="850" dirty="0">
                <a:solidFill>
                  <a:srgbClr val="B8F7C2"/>
                </a:solidFill>
                <a:latin typeface="IBM Plex Mono" pitchFamily="34" charset="0"/>
                <a:ea typeface="IBM Plex Mono" pitchFamily="34" charset="-122"/>
                <a:cs typeface="IBM Plex Mono" pitchFamily="34" charset="-120"/>
              </a:rPr>
              <a:t> Raw ETH/USDT Data -&gt; DWT Noise Reduction -&gt; GAF-CNN-LSTM Squeeze Detector -&gt; 60-Bar Donchian Breakout Trigger -&gt; 200-Hour Macro Trend Filter.</a:t>
            </a:r>
            <a:endParaRPr lang="en-US" sz="850" dirty="0"/>
          </a:p>
        </p:txBody>
      </p:sp>
      <p:sp>
        <p:nvSpPr>
          <p:cNvPr id="16" name="Text 11"/>
          <p:cNvSpPr/>
          <p:nvPr/>
        </p:nvSpPr>
        <p:spPr>
          <a:xfrm>
            <a:off x="444489" y="3166368"/>
            <a:ext cx="760393" cy="125710"/>
          </a:xfrm>
          <a:prstGeom prst="rect">
            <a:avLst/>
          </a:prstGeom>
          <a:noFill/>
          <a:ln/>
        </p:spPr>
        <p:txBody>
          <a:bodyPr wrap="none" lIns="0" tIns="0" rIns="0" bIns="0" rtlCol="0" anchor="t"/>
          <a:lstStyle/>
          <a:p>
            <a:pPr marL="0" indent="0" algn="l">
              <a:lnSpc>
                <a:spcPct val="83000"/>
              </a:lnSpc>
              <a:buNone/>
            </a:pPr>
            <a:r>
              <a:rPr lang="en-US" sz="1000" dirty="0">
                <a:solidFill>
                  <a:srgbClr val="39FF6A"/>
                </a:solidFill>
                <a:latin typeface="IBM Plex Mono SemiBold" pitchFamily="34" charset="0"/>
                <a:ea typeface="IBM Plex Mono SemiBold" pitchFamily="34" charset="-122"/>
                <a:cs typeface="IBM Plex Mono SemiBold" pitchFamily="34" charset="-120"/>
              </a:rPr>
              <a:t>01</a:t>
            </a:r>
            <a:endParaRPr lang="en-US" sz="1000" dirty="0"/>
          </a:p>
        </p:txBody>
      </p:sp>
      <p:sp>
        <p:nvSpPr>
          <p:cNvPr id="17" name="Shape 12"/>
          <p:cNvSpPr/>
          <p:nvPr/>
        </p:nvSpPr>
        <p:spPr>
          <a:xfrm>
            <a:off x="444489" y="3342382"/>
            <a:ext cx="993155" cy="19050"/>
          </a:xfrm>
          <a:prstGeom prst="rect">
            <a:avLst/>
          </a:prstGeom>
          <a:solidFill>
            <a:srgbClr val="39FF6A"/>
          </a:solidFill>
          <a:ln/>
        </p:spPr>
      </p:sp>
      <p:sp>
        <p:nvSpPr>
          <p:cNvPr id="18" name="Text 13"/>
          <p:cNvSpPr/>
          <p:nvPr/>
        </p:nvSpPr>
        <p:spPr>
          <a:xfrm>
            <a:off x="444489" y="3436838"/>
            <a:ext cx="993155" cy="542627"/>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Raw ETH/USDT Data</a:t>
            </a:r>
            <a:endParaRPr lang="en-US" sz="1150" dirty="0"/>
          </a:p>
        </p:txBody>
      </p:sp>
      <p:sp>
        <p:nvSpPr>
          <p:cNvPr id="19" name="Text 14"/>
          <p:cNvSpPr/>
          <p:nvPr/>
        </p:nvSpPr>
        <p:spPr>
          <a:xfrm>
            <a:off x="1894733" y="3166368"/>
            <a:ext cx="760393" cy="125710"/>
          </a:xfrm>
          <a:prstGeom prst="rect">
            <a:avLst/>
          </a:prstGeom>
          <a:noFill/>
          <a:ln/>
        </p:spPr>
        <p:txBody>
          <a:bodyPr wrap="none" lIns="0" tIns="0" rIns="0" bIns="0" rtlCol="0" anchor="t"/>
          <a:lstStyle/>
          <a:p>
            <a:pPr marL="0" indent="0" algn="l">
              <a:lnSpc>
                <a:spcPct val="83000"/>
              </a:lnSpc>
              <a:buNone/>
            </a:pPr>
            <a:r>
              <a:rPr lang="en-US" sz="1000" dirty="0">
                <a:solidFill>
                  <a:srgbClr val="39FF6A"/>
                </a:solidFill>
                <a:latin typeface="IBM Plex Mono SemiBold" pitchFamily="34" charset="0"/>
                <a:ea typeface="IBM Plex Mono SemiBold" pitchFamily="34" charset="-122"/>
                <a:cs typeface="IBM Plex Mono SemiBold" pitchFamily="34" charset="-120"/>
              </a:rPr>
              <a:t>02</a:t>
            </a:r>
            <a:endParaRPr lang="en-US" sz="1000" dirty="0"/>
          </a:p>
        </p:txBody>
      </p:sp>
      <p:sp>
        <p:nvSpPr>
          <p:cNvPr id="20" name="Shape 15"/>
          <p:cNvSpPr/>
          <p:nvPr/>
        </p:nvSpPr>
        <p:spPr>
          <a:xfrm>
            <a:off x="1894733" y="3342382"/>
            <a:ext cx="993353" cy="19050"/>
          </a:xfrm>
          <a:prstGeom prst="rect">
            <a:avLst/>
          </a:prstGeom>
          <a:solidFill>
            <a:srgbClr val="39FF6A"/>
          </a:solidFill>
          <a:ln/>
        </p:spPr>
      </p:sp>
      <p:sp>
        <p:nvSpPr>
          <p:cNvPr id="21" name="Text 16"/>
          <p:cNvSpPr/>
          <p:nvPr/>
        </p:nvSpPr>
        <p:spPr>
          <a:xfrm>
            <a:off x="1894733" y="3436838"/>
            <a:ext cx="993353" cy="361752"/>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DWT Noise Reduction</a:t>
            </a:r>
            <a:endParaRPr lang="en-US" sz="1150" dirty="0"/>
          </a:p>
        </p:txBody>
      </p:sp>
      <p:sp>
        <p:nvSpPr>
          <p:cNvPr id="22" name="Text 17"/>
          <p:cNvSpPr/>
          <p:nvPr/>
        </p:nvSpPr>
        <p:spPr>
          <a:xfrm>
            <a:off x="3345176" y="3166368"/>
            <a:ext cx="760393" cy="125710"/>
          </a:xfrm>
          <a:prstGeom prst="rect">
            <a:avLst/>
          </a:prstGeom>
          <a:noFill/>
          <a:ln/>
        </p:spPr>
        <p:txBody>
          <a:bodyPr wrap="none" lIns="0" tIns="0" rIns="0" bIns="0" rtlCol="0" anchor="t"/>
          <a:lstStyle/>
          <a:p>
            <a:pPr marL="0" indent="0" algn="l">
              <a:lnSpc>
                <a:spcPct val="83000"/>
              </a:lnSpc>
              <a:buNone/>
            </a:pPr>
            <a:r>
              <a:rPr lang="en-US" sz="1000" dirty="0">
                <a:solidFill>
                  <a:srgbClr val="39FF6A"/>
                </a:solidFill>
                <a:latin typeface="IBM Plex Mono SemiBold" pitchFamily="34" charset="0"/>
                <a:ea typeface="IBM Plex Mono SemiBold" pitchFamily="34" charset="-122"/>
                <a:cs typeface="IBM Plex Mono SemiBold" pitchFamily="34" charset="-120"/>
              </a:rPr>
              <a:t>03</a:t>
            </a:r>
            <a:endParaRPr lang="en-US" sz="1000" dirty="0"/>
          </a:p>
        </p:txBody>
      </p:sp>
      <p:sp>
        <p:nvSpPr>
          <p:cNvPr id="23" name="Shape 18"/>
          <p:cNvSpPr/>
          <p:nvPr/>
        </p:nvSpPr>
        <p:spPr>
          <a:xfrm>
            <a:off x="3345176" y="3342382"/>
            <a:ext cx="993155" cy="19050"/>
          </a:xfrm>
          <a:prstGeom prst="rect">
            <a:avLst/>
          </a:prstGeom>
          <a:solidFill>
            <a:srgbClr val="39FF6A"/>
          </a:solidFill>
          <a:ln/>
        </p:spPr>
      </p:sp>
      <p:sp>
        <p:nvSpPr>
          <p:cNvPr id="24" name="Text 19"/>
          <p:cNvSpPr/>
          <p:nvPr/>
        </p:nvSpPr>
        <p:spPr>
          <a:xfrm>
            <a:off x="3345176" y="3436838"/>
            <a:ext cx="993254" cy="72350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GAF-CNN-LSTM Squeeze Detector</a:t>
            </a:r>
            <a:endParaRPr lang="en-US" sz="1150" dirty="0"/>
          </a:p>
        </p:txBody>
      </p:sp>
      <p:sp>
        <p:nvSpPr>
          <p:cNvPr id="25" name="Text 20"/>
          <p:cNvSpPr/>
          <p:nvPr/>
        </p:nvSpPr>
        <p:spPr>
          <a:xfrm>
            <a:off x="4795519" y="3166368"/>
            <a:ext cx="760393" cy="125710"/>
          </a:xfrm>
          <a:prstGeom prst="rect">
            <a:avLst/>
          </a:prstGeom>
          <a:noFill/>
          <a:ln/>
        </p:spPr>
        <p:txBody>
          <a:bodyPr wrap="none" lIns="0" tIns="0" rIns="0" bIns="0" rtlCol="0" anchor="t"/>
          <a:lstStyle/>
          <a:p>
            <a:pPr marL="0" indent="0" algn="l">
              <a:lnSpc>
                <a:spcPct val="83000"/>
              </a:lnSpc>
              <a:buNone/>
            </a:pPr>
            <a:r>
              <a:rPr lang="en-US" sz="1000" dirty="0">
                <a:solidFill>
                  <a:srgbClr val="39FF6A"/>
                </a:solidFill>
                <a:latin typeface="IBM Plex Mono SemiBold" pitchFamily="34" charset="0"/>
                <a:ea typeface="IBM Plex Mono SemiBold" pitchFamily="34" charset="-122"/>
                <a:cs typeface="IBM Plex Mono SemiBold" pitchFamily="34" charset="-120"/>
              </a:rPr>
              <a:t>04</a:t>
            </a:r>
            <a:endParaRPr lang="en-US" sz="1000" dirty="0"/>
          </a:p>
        </p:txBody>
      </p:sp>
      <p:sp>
        <p:nvSpPr>
          <p:cNvPr id="26" name="Shape 21"/>
          <p:cNvSpPr/>
          <p:nvPr/>
        </p:nvSpPr>
        <p:spPr>
          <a:xfrm>
            <a:off x="4795519" y="3342382"/>
            <a:ext cx="993353" cy="19050"/>
          </a:xfrm>
          <a:prstGeom prst="rect">
            <a:avLst/>
          </a:prstGeom>
          <a:solidFill>
            <a:srgbClr val="39FF6A"/>
          </a:solidFill>
          <a:ln/>
        </p:spPr>
      </p:sp>
      <p:sp>
        <p:nvSpPr>
          <p:cNvPr id="27" name="Text 22"/>
          <p:cNvSpPr/>
          <p:nvPr/>
        </p:nvSpPr>
        <p:spPr>
          <a:xfrm>
            <a:off x="4795519" y="3436838"/>
            <a:ext cx="993353" cy="723503"/>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60-Bar Donchian Breakout Trigger</a:t>
            </a:r>
            <a:endParaRPr lang="en-US" sz="1150" dirty="0"/>
          </a:p>
        </p:txBody>
      </p:sp>
      <p:sp>
        <p:nvSpPr>
          <p:cNvPr id="28" name="Text 23"/>
          <p:cNvSpPr/>
          <p:nvPr/>
        </p:nvSpPr>
        <p:spPr>
          <a:xfrm>
            <a:off x="6245962" y="3166368"/>
            <a:ext cx="760393" cy="125710"/>
          </a:xfrm>
          <a:prstGeom prst="rect">
            <a:avLst/>
          </a:prstGeom>
          <a:noFill/>
          <a:ln/>
        </p:spPr>
        <p:txBody>
          <a:bodyPr wrap="none" lIns="0" tIns="0" rIns="0" bIns="0" rtlCol="0" anchor="t"/>
          <a:lstStyle/>
          <a:p>
            <a:pPr marL="0" indent="0" algn="l">
              <a:lnSpc>
                <a:spcPct val="83000"/>
              </a:lnSpc>
              <a:buNone/>
            </a:pPr>
            <a:r>
              <a:rPr lang="en-US" sz="1000" dirty="0">
                <a:solidFill>
                  <a:srgbClr val="39FF6A"/>
                </a:solidFill>
                <a:latin typeface="IBM Plex Mono SemiBold" pitchFamily="34" charset="0"/>
                <a:ea typeface="IBM Plex Mono SemiBold" pitchFamily="34" charset="-122"/>
                <a:cs typeface="IBM Plex Mono SemiBold" pitchFamily="34" charset="-120"/>
              </a:rPr>
              <a:t>05</a:t>
            </a:r>
            <a:endParaRPr lang="en-US" sz="1000" dirty="0"/>
          </a:p>
        </p:txBody>
      </p:sp>
      <p:sp>
        <p:nvSpPr>
          <p:cNvPr id="29" name="Shape 24"/>
          <p:cNvSpPr/>
          <p:nvPr/>
        </p:nvSpPr>
        <p:spPr>
          <a:xfrm>
            <a:off x="6245962" y="3342382"/>
            <a:ext cx="993155" cy="19050"/>
          </a:xfrm>
          <a:prstGeom prst="rect">
            <a:avLst/>
          </a:prstGeom>
          <a:solidFill>
            <a:srgbClr val="39FF6A"/>
          </a:solidFill>
          <a:ln/>
        </p:spPr>
      </p:sp>
      <p:sp>
        <p:nvSpPr>
          <p:cNvPr id="30" name="Text 25"/>
          <p:cNvSpPr/>
          <p:nvPr/>
        </p:nvSpPr>
        <p:spPr>
          <a:xfrm>
            <a:off x="6245962" y="3436838"/>
            <a:ext cx="993155" cy="542627"/>
          </a:xfrm>
          <a:prstGeom prst="rect">
            <a:avLst/>
          </a:prstGeom>
          <a:noFill/>
          <a:ln/>
        </p:spPr>
        <p:txBody>
          <a:bodyPr wrap="square" lIns="0" tIns="0" rIns="0" bIns="0" rtlCol="0" anchor="t">
            <a:normAutofit/>
          </a:bodyPr>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200-Hour Macro Trend Filter</a:t>
            </a:r>
            <a:endParaRPr lang="en-US" sz="1150" dirty="0"/>
          </a:p>
        </p:txBody>
      </p:sp>
      <p:sp>
        <p:nvSpPr>
          <p:cNvPr id="31" name="Shape 26"/>
          <p:cNvSpPr/>
          <p:nvPr/>
        </p:nvSpPr>
        <p:spPr>
          <a:xfrm>
            <a:off x="7467810" y="783134"/>
            <a:ext cx="4507891" cy="4410174"/>
          </a:xfrm>
          <a:prstGeom prst="rect">
            <a:avLst/>
          </a:prstGeom>
          <a:noFill/>
          <a:ln w="6350">
            <a:solidFill>
              <a:srgbClr val="2E6D3F"/>
            </a:solidFill>
            <a:prstDash val="solid"/>
          </a:ln>
          <a:effectLst>
            <a:outerShdw blurRad="201930" dist="127" dir="16200000" algn="bl" rotWithShape="0">
              <a:srgbClr val="33FF66">
                <a:alpha val="1000"/>
              </a:srgbClr>
            </a:outerShdw>
          </a:effectLst>
        </p:spPr>
      </p:sp>
      <p:sp>
        <p:nvSpPr>
          <p:cNvPr id="32" name="Text 27"/>
          <p:cNvSpPr/>
          <p:nvPr/>
        </p:nvSpPr>
        <p:spPr>
          <a:xfrm>
            <a:off x="7702754" y="1018084"/>
            <a:ext cx="4038003" cy="276225"/>
          </a:xfrm>
          <a:prstGeom prst="rect">
            <a:avLst/>
          </a:prstGeom>
          <a:noFill/>
          <a:ln/>
        </p:spPr>
        <p:txBody>
          <a:bodyPr wrap="square" lIns="101598" tIns="63498" rIns="101598" bIns="63498" rtlCol="0" anchor="t">
            <a:normAutofit/>
          </a:bodyPr>
          <a:lstStyle/>
          <a:p>
            <a:pPr marL="0" indent="0" algn="l">
              <a:lnSpc>
                <a:spcPct val="108000"/>
              </a:lnSpc>
              <a:buNone/>
            </a:pPr>
            <a:r>
              <a:rPr lang="en-US" sz="750" kern="0" spc="30" dirty="0">
                <a:solidFill>
                  <a:srgbClr val="B8F7C2"/>
                </a:solidFill>
                <a:latin typeface="IBM Plex Mono" pitchFamily="34" charset="0"/>
                <a:ea typeface="IBM Plex Mono" pitchFamily="34" charset="-122"/>
                <a:cs typeface="IBM Plex Mono" pitchFamily="34" charset="-120"/>
              </a:rPr>
              <a:t>CLEAN BASELINE TAKER EXECUTION</a:t>
            </a:r>
            <a:endParaRPr lang="en-US" sz="750" dirty="0"/>
          </a:p>
        </p:txBody>
      </p:sp>
      <p:sp>
        <p:nvSpPr>
          <p:cNvPr id="33" name="Text 28"/>
          <p:cNvSpPr/>
          <p:nvPr/>
        </p:nvSpPr>
        <p:spPr>
          <a:xfrm>
            <a:off x="7702754" y="1358305"/>
            <a:ext cx="4038003" cy="457002"/>
          </a:xfrm>
          <a:prstGeom prst="rect">
            <a:avLst/>
          </a:prstGeom>
          <a:noFill/>
          <a:ln/>
        </p:spPr>
        <p:txBody>
          <a:bodyPr wrap="square" lIns="0" tIns="0" rIns="0" bIns="0" rtlCol="0" anchor="t">
            <a:normAutofit/>
          </a:bodyPr>
          <a:lstStyle/>
          <a:p>
            <a:pPr marL="0" indent="0" algn="l">
              <a:lnSpc>
                <a:spcPct val="104000"/>
              </a:lnSpc>
              <a:buNone/>
            </a:pPr>
            <a:r>
              <a:rPr lang="en-US" sz="1450" dirty="0">
                <a:solidFill>
                  <a:srgbClr val="B8F7C2"/>
                </a:solidFill>
                <a:latin typeface="IBM Plex Mono Medium" pitchFamily="34" charset="0"/>
                <a:ea typeface="IBM Plex Mono Medium" pitchFamily="34" charset="-122"/>
                <a:cs typeface="IBM Plex Mono Medium" pitchFamily="34" charset="-120"/>
              </a:rPr>
              <a:t>Key Performance Snapshot (Clean Baseline Taker Execution)</a:t>
            </a:r>
            <a:endParaRPr lang="en-US" sz="14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02754" y="1866702"/>
          <a:ext cx="4038003" cy="1924166"/>
        </p:xfrm>
        <a:graphic>
          <a:graphicData uri="http://schemas.openxmlformats.org/drawingml/2006/table">
            <a:tbl>
              <a:tblPr/>
              <a:tblGrid>
                <a:gridCol w="2288202">
                  <a:extLst>
                    <a:ext uri="{9D8B030D-6E8A-4147-A177-3AD203B41FA5}">
                      <a16:colId xmlns:a16="http://schemas.microsoft.com/office/drawing/2014/main" val="20000"/>
                    </a:ext>
                  </a:extLst>
                </a:gridCol>
                <a:gridCol w="1749801">
                  <a:extLst>
                    <a:ext uri="{9D8B030D-6E8A-4147-A177-3AD203B41FA5}">
                      <a16:colId xmlns:a16="http://schemas.microsoft.com/office/drawing/2014/main" val="20001"/>
                    </a:ext>
                  </a:extLst>
                </a:gridCol>
              </a:tblGrid>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NET STRATEGY RETURN</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850" dirty="0">
                          <a:solidFill>
                            <a:srgbClr val="39FF6A"/>
                          </a:solidFill>
                          <a:latin typeface="IBM Plex Mono" pitchFamily="34" charset="0"/>
                          <a:ea typeface="IBM Plex Mono" pitchFamily="34" charset="-122"/>
                          <a:cs typeface="IBM Plex Mono" pitchFamily="34" charset="-120"/>
                        </a:rPr>
                        <a:t>+14.06%</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0"/>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MAX PEAK-TO-TROUGH DRAWDOWN</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850" dirty="0">
                          <a:solidFill>
                            <a:srgbClr val="39FF6A"/>
                          </a:solidFill>
                          <a:latin typeface="IBM Plex Mono" pitchFamily="34" charset="0"/>
                          <a:ea typeface="IBM Plex Mono" pitchFamily="34" charset="-122"/>
                          <a:cs typeface="IBM Plex Mono" pitchFamily="34" charset="-120"/>
                        </a:rPr>
                        <a:t>-10.00%</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1"/>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ANNUALIZED SHARPE RATIO</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850" dirty="0">
                          <a:solidFill>
                            <a:srgbClr val="39FF6A"/>
                          </a:solidFill>
                          <a:latin typeface="IBM Plex Mono" pitchFamily="34" charset="0"/>
                          <a:ea typeface="IBM Plex Mono" pitchFamily="34" charset="-122"/>
                          <a:cs typeface="IBM Plex Mono" pitchFamily="34" charset="-120"/>
                        </a:rPr>
                        <a:t>1.55</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2"/>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WIN RATE &amp; TRADE COUNT</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850" dirty="0">
                          <a:solidFill>
                            <a:srgbClr val="39FF6A"/>
                          </a:solidFill>
                          <a:latin typeface="IBM Plex Mono" pitchFamily="34" charset="0"/>
                          <a:ea typeface="IBM Plex Mono" pitchFamily="34" charset="-122"/>
                          <a:cs typeface="IBM Plex Mono" pitchFamily="34" charset="-120"/>
                        </a:rPr>
                        <a:t>42.4% / 66 Trades</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3"/>
                  </a:ext>
                </a:extLst>
              </a:tr>
              <a:tr h="3724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CUMULATIVE EXCHANGE FEES PAID</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850" dirty="0">
                          <a:solidFill>
                            <a:srgbClr val="39FF6A"/>
                          </a:solidFill>
                          <a:latin typeface="IBM Plex Mono" pitchFamily="34" charset="0"/>
                          <a:ea typeface="IBM Plex Mono" pitchFamily="34" charset="-122"/>
                          <a:cs typeface="IBM Plex Mono" pitchFamily="34" charset="-120"/>
                        </a:rPr>
                        <a:t>8.22%</a:t>
                      </a:r>
                      <a:endParaRPr lang="en-US" sz="850" dirty="0">
                        <a:latin typeface="IBM Plex Mono" charset="0"/>
                        <a:ea typeface="IBM Plex Mono" charset="0"/>
                        <a:cs typeface="IBM Plex Mono" charset="0"/>
                      </a:endParaRPr>
                    </a:p>
                  </a:txBody>
                  <a:tcPr marL="152396" marR="152396" marT="126997" marB="126997"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4"/>
                  </a:ext>
                </a:extLst>
              </a:tr>
            </a:tbl>
          </a:graphicData>
        </a:graphic>
      </p:graphicFrame>
      <p:sp>
        <p:nvSpPr>
          <p:cNvPr id="35" name="Shape 29"/>
          <p:cNvSpPr/>
          <p:nvPr/>
        </p:nvSpPr>
        <p:spPr>
          <a:xfrm>
            <a:off x="7702754" y="2239159"/>
            <a:ext cx="4038003" cy="12700"/>
          </a:xfrm>
          <a:prstGeom prst="rect">
            <a:avLst/>
          </a:prstGeom>
          <a:solidFill>
            <a:srgbClr val="2E6D3F"/>
          </a:solidFill>
          <a:ln/>
        </p:spPr>
      </p:sp>
      <p:sp>
        <p:nvSpPr>
          <p:cNvPr id="36" name="Shape 30"/>
          <p:cNvSpPr/>
          <p:nvPr/>
        </p:nvSpPr>
        <p:spPr>
          <a:xfrm>
            <a:off x="7702754" y="2624317"/>
            <a:ext cx="4038003" cy="12700"/>
          </a:xfrm>
          <a:prstGeom prst="rect">
            <a:avLst/>
          </a:prstGeom>
          <a:solidFill>
            <a:srgbClr val="2E6D3F"/>
          </a:solidFill>
          <a:ln/>
        </p:spPr>
      </p:sp>
      <p:sp>
        <p:nvSpPr>
          <p:cNvPr id="37" name="Shape 31"/>
          <p:cNvSpPr/>
          <p:nvPr/>
        </p:nvSpPr>
        <p:spPr>
          <a:xfrm>
            <a:off x="7702754" y="3009475"/>
            <a:ext cx="4038003" cy="12700"/>
          </a:xfrm>
          <a:prstGeom prst="rect">
            <a:avLst/>
          </a:prstGeom>
          <a:solidFill>
            <a:srgbClr val="2E6D3F"/>
          </a:solidFill>
          <a:ln/>
        </p:spPr>
      </p:sp>
      <p:sp>
        <p:nvSpPr>
          <p:cNvPr id="38" name="Shape 32"/>
          <p:cNvSpPr/>
          <p:nvPr/>
        </p:nvSpPr>
        <p:spPr>
          <a:xfrm>
            <a:off x="7702754" y="3394632"/>
            <a:ext cx="4038003" cy="12700"/>
          </a:xfrm>
          <a:prstGeom prst="rect">
            <a:avLst/>
          </a:prstGeom>
          <a:solidFill>
            <a:srgbClr val="2E6D3F"/>
          </a:solidFill>
          <a:ln/>
        </p:spPr>
      </p:sp>
      <p:sp>
        <p:nvSpPr>
          <p:cNvPr id="39" name="Text 33"/>
          <p:cNvSpPr/>
          <p:nvPr/>
        </p:nvSpPr>
        <p:spPr>
          <a:xfrm>
            <a:off x="7702754" y="3846314"/>
            <a:ext cx="4038003" cy="1112044"/>
          </a:xfrm>
          <a:prstGeom prst="rect">
            <a:avLst/>
          </a:prstGeom>
          <a:noFill/>
          <a:ln/>
        </p:spPr>
        <p:txBody>
          <a:bodyPr wrap="square" lIns="0" tIns="0" rIns="0" bIns="0" rtlCol="0" anchor="t">
            <a:normAutofit/>
          </a:bodyPr>
          <a:lstStyle/>
          <a:p>
            <a:pPr marL="0" indent="0" algn="l">
              <a:lnSpc>
                <a:spcPct val="89000"/>
              </a:lnSpc>
              <a:spcAft>
                <a:spcPts val="300"/>
              </a:spcAft>
              <a:buNone/>
            </a:pPr>
            <a:r>
              <a:rPr lang="en-US" sz="850" b="1" dirty="0">
                <a:solidFill>
                  <a:srgbClr val="B8F7C2"/>
                </a:solidFill>
                <a:latin typeface="IBM Plex Mono Bold" pitchFamily="34" charset="0"/>
                <a:ea typeface="IBM Plex Mono Bold" pitchFamily="34" charset="-122"/>
                <a:cs typeface="IBM Plex Mono Bold" pitchFamily="34" charset="-120"/>
              </a:rPr>
              <a:t>Net Strategy Return:</a:t>
            </a:r>
            <a:r>
              <a:rPr lang="en-US" sz="850" dirty="0">
                <a:solidFill>
                  <a:srgbClr val="B8F7C2"/>
                </a:solidFill>
                <a:latin typeface="IBM Plex Mono" pitchFamily="34" charset="0"/>
                <a:ea typeface="IBM Plex Mono" pitchFamily="34" charset="-122"/>
                <a:cs typeface="IBM Plex Mono" pitchFamily="34" charset="-120"/>
              </a:rPr>
              <a:t> +14.06% (Net profitability after absorbing all fee drag)</a:t>
            </a:r>
            <a:endParaRPr lang="en-US" sz="850" dirty="0"/>
          </a:p>
          <a:p>
            <a:pPr marL="0" indent="0" algn="l">
              <a:lnSpc>
                <a:spcPct val="89000"/>
              </a:lnSpc>
              <a:spcAft>
                <a:spcPts val="300"/>
              </a:spcAft>
              <a:buNone/>
            </a:pPr>
            <a:r>
              <a:rPr lang="en-US" sz="850" b="1" dirty="0">
                <a:solidFill>
                  <a:srgbClr val="B8F7C2"/>
                </a:solidFill>
                <a:latin typeface="IBM Plex Mono Bold" pitchFamily="34" charset="0"/>
                <a:ea typeface="IBM Plex Mono Bold" pitchFamily="34" charset="-122"/>
                <a:cs typeface="IBM Plex Mono Bold" pitchFamily="34" charset="-120"/>
              </a:rPr>
              <a:t>Max Peak-to-Trough Drawdown:</a:t>
            </a:r>
            <a:r>
              <a:rPr lang="en-US" sz="850" dirty="0">
                <a:solidFill>
                  <a:srgbClr val="B8F7C2"/>
                </a:solidFill>
                <a:latin typeface="IBM Plex Mono" pitchFamily="34" charset="0"/>
                <a:ea typeface="IBM Plex Mono" pitchFamily="34" charset="-122"/>
                <a:cs typeface="IBM Plex Mono" pitchFamily="34" charset="-120"/>
              </a:rPr>
              <a:t> -10.00%</a:t>
            </a:r>
            <a:endParaRPr lang="en-US" sz="850" dirty="0"/>
          </a:p>
          <a:p>
            <a:pPr marL="0" indent="0" algn="l">
              <a:lnSpc>
                <a:spcPct val="89000"/>
              </a:lnSpc>
              <a:spcAft>
                <a:spcPts val="300"/>
              </a:spcAft>
              <a:buNone/>
            </a:pPr>
            <a:r>
              <a:rPr lang="en-US" sz="850" b="1" dirty="0">
                <a:solidFill>
                  <a:srgbClr val="B8F7C2"/>
                </a:solidFill>
                <a:latin typeface="IBM Plex Mono Bold" pitchFamily="34" charset="0"/>
                <a:ea typeface="IBM Plex Mono Bold" pitchFamily="34" charset="-122"/>
                <a:cs typeface="IBM Plex Mono Bold" pitchFamily="34" charset="-120"/>
              </a:rPr>
              <a:t>Annualized Sharpe Ratio:</a:t>
            </a:r>
            <a:r>
              <a:rPr lang="en-US" sz="850" dirty="0">
                <a:solidFill>
                  <a:srgbClr val="B8F7C2"/>
                </a:solidFill>
                <a:latin typeface="IBM Plex Mono" pitchFamily="34" charset="0"/>
                <a:ea typeface="IBM Plex Mono" pitchFamily="34" charset="-122"/>
                <a:cs typeface="IBM Plex Mono" pitchFamily="34" charset="-120"/>
              </a:rPr>
              <a:t> 1.55</a:t>
            </a:r>
            <a:endParaRPr lang="en-US" sz="850" dirty="0"/>
          </a:p>
          <a:p>
            <a:pPr marL="0" indent="0" algn="l">
              <a:lnSpc>
                <a:spcPct val="89000"/>
              </a:lnSpc>
              <a:spcAft>
                <a:spcPts val="300"/>
              </a:spcAft>
              <a:buNone/>
            </a:pPr>
            <a:r>
              <a:rPr lang="en-US" sz="850" b="1" dirty="0">
                <a:solidFill>
                  <a:srgbClr val="B8F7C2"/>
                </a:solidFill>
                <a:latin typeface="IBM Plex Mono Bold" pitchFamily="34" charset="0"/>
                <a:ea typeface="IBM Plex Mono Bold" pitchFamily="34" charset="-122"/>
                <a:cs typeface="IBM Plex Mono Bold" pitchFamily="34" charset="-120"/>
              </a:rPr>
              <a:t>Win Rate &amp; Trade Count:</a:t>
            </a:r>
            <a:r>
              <a:rPr lang="en-US" sz="850" dirty="0">
                <a:solidFill>
                  <a:srgbClr val="B8F7C2"/>
                </a:solidFill>
                <a:latin typeface="IBM Plex Mono" pitchFamily="34" charset="0"/>
                <a:ea typeface="IBM Plex Mono" pitchFamily="34" charset="-122"/>
                <a:cs typeface="IBM Plex Mono" pitchFamily="34" charset="-120"/>
              </a:rPr>
              <a:t> 42.4% Win Rate across 66 Trades (Outsized trend runner distribution)</a:t>
            </a:r>
            <a:endParaRPr lang="en-US" sz="850" dirty="0"/>
          </a:p>
          <a:p>
            <a:pPr marL="0" indent="0" algn="l">
              <a:lnSpc>
                <a:spcPct val="89000"/>
              </a:lnSpc>
              <a:buNone/>
            </a:pPr>
            <a:r>
              <a:rPr lang="en-US" sz="850" b="1" dirty="0">
                <a:solidFill>
                  <a:srgbClr val="B8F7C2"/>
                </a:solidFill>
                <a:latin typeface="IBM Plex Mono Bold" pitchFamily="34" charset="0"/>
                <a:ea typeface="IBM Plex Mono Bold" pitchFamily="34" charset="-122"/>
                <a:cs typeface="IBM Plex Mono Bold" pitchFamily="34" charset="-120"/>
              </a:rPr>
              <a:t>Cumulative Exchange Fees Paid:</a:t>
            </a:r>
            <a:r>
              <a:rPr lang="en-US" sz="850" dirty="0">
                <a:solidFill>
                  <a:srgbClr val="B8F7C2"/>
                </a:solidFill>
                <a:latin typeface="IBM Plex Mono" pitchFamily="34" charset="0"/>
                <a:ea typeface="IBM Plex Mono" pitchFamily="34" charset="-122"/>
                <a:cs typeface="IBM Plex Mono" pitchFamily="34" charset="-120"/>
              </a:rPr>
              <a:t> 8.22% (0.05% Market Taker order drag)</a:t>
            </a:r>
            <a:endParaRPr lang="en-US" sz="850" dirty="0"/>
          </a:p>
        </p:txBody>
      </p:sp>
      <p:sp>
        <p:nvSpPr>
          <p:cNvPr id="40" name="Text 34"/>
          <p:cNvSpPr/>
          <p:nvPr/>
        </p:nvSpPr>
        <p:spPr>
          <a:xfrm>
            <a:off x="203195" y="5270004"/>
            <a:ext cx="11785305" cy="236934"/>
          </a:xfrm>
          <a:prstGeom prst="rect">
            <a:avLst/>
          </a:prstGeom>
          <a:noFill/>
          <a:ln/>
        </p:spPr>
        <p:txBody>
          <a:bodyPr wrap="square" lIns="0" tIns="0" rIns="0" bIns="0" rtlCol="0" anchor="t">
            <a:normAutofit/>
          </a:bodyPr>
          <a:lstStyle/>
          <a:p>
            <a:pPr marL="0" indent="0" algn="l">
              <a:lnSpc>
                <a:spcPct val="89000"/>
              </a:lnSpc>
              <a:buNone/>
            </a:pPr>
            <a:r>
              <a:rPr lang="en-US" sz="850" i="1" dirty="0">
                <a:solidFill>
                  <a:srgbClr val="B8F7C2"/>
                </a:solidFill>
                <a:latin typeface="IBM Plex Mono" pitchFamily="34" charset="0"/>
                <a:ea typeface="IBM Plex Mono" pitchFamily="34" charset="-122"/>
                <a:cs typeface="IBM Plex Mono" pitchFamily="34" charset="-120"/>
              </a:rPr>
              <a:t>Strategic Key Takeaway:</a:t>
            </a:r>
            <a:r>
              <a:rPr lang="en-US" sz="850" dirty="0">
                <a:solidFill>
                  <a:srgbClr val="B8F7C2"/>
                </a:solidFill>
                <a:latin typeface="IBM Plex Mono" pitchFamily="34" charset="0"/>
                <a:ea typeface="IBM Plex Mono" pitchFamily="34" charset="-122"/>
                <a:cs typeface="IBM Plex Mono" pitchFamily="34" charset="-120"/>
              </a:rPr>
              <a:t> Predictable alpha on ETH/USDT comes from timing volatility regimes rather than pure direction. Capturing outsized trend runners after squeeze compression easily offsets low win-rate friction.</a:t>
            </a:r>
            <a:endParaRPr lang="en-US" sz="850" dirty="0"/>
          </a:p>
        </p:txBody>
      </p:sp>
      <p:pic>
        <p:nvPicPr>
          <p:cNvPr id="41" name="Image 3" descr="preencoded.png"/>
          <p:cNvPicPr>
            <a:picLocks noChangeAspect="1"/>
          </p:cNvPicPr>
          <p:nvPr/>
        </p:nvPicPr>
        <p:blipFill>
          <a:blip r:embed="rId5"/>
          <a:stretch>
            <a:fillRect/>
          </a:stretch>
        </p:blipFill>
        <p:spPr>
          <a:xfrm>
            <a:off x="25399" y="6265267"/>
            <a:ext cx="12140896" cy="567234"/>
          </a:xfrm>
          <a:prstGeom prst="rect">
            <a:avLst/>
          </a:prstGeom>
        </p:spPr>
      </p:pic>
      <p:sp>
        <p:nvSpPr>
          <p:cNvPr id="42" name="Text 35"/>
          <p:cNvSpPr/>
          <p:nvPr/>
        </p:nvSpPr>
        <p:spPr>
          <a:xfrm>
            <a:off x="717532" y="6830417"/>
            <a:ext cx="1771705"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MODE: EXECUTIVE SUMMARY</a:t>
            </a:r>
            <a:endParaRPr lang="en-US" sz="750" dirty="0"/>
          </a:p>
        </p:txBody>
      </p:sp>
      <p:sp>
        <p:nvSpPr>
          <p:cNvPr id="44" name="Shape 37"/>
          <p:cNvSpPr/>
          <p:nvPr/>
        </p:nvSpPr>
        <p:spPr>
          <a:xfrm>
            <a:off x="7461460" y="783134"/>
            <a:ext cx="12700" cy="4410174"/>
          </a:xfrm>
          <a:prstGeom prst="rect">
            <a:avLst/>
          </a:prstGeom>
          <a:solidFill>
            <a:srgbClr val="2E6D3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60343" y="260350"/>
            <a:ext cx="11671008" cy="303113"/>
          </a:xfrm>
          <a:prstGeom prst="rect">
            <a:avLst/>
          </a:prstGeom>
          <a:noFill/>
          <a:ln/>
        </p:spPr>
        <p:txBody>
          <a:bodyPr wrap="square" lIns="101598" tIns="63498" rIns="101598" bIns="63498" rtlCol="0" anchor="t">
            <a:normAutofit/>
          </a:bodyPr>
          <a:lstStyle/>
          <a:p>
            <a:pPr marL="0" indent="0" algn="l">
              <a:lnSpc>
                <a:spcPct val="108000"/>
              </a:lnSpc>
              <a:buNone/>
            </a:pPr>
            <a:r>
              <a:rPr lang="en-US" sz="900" kern="0" spc="37" dirty="0">
                <a:solidFill>
                  <a:srgbClr val="6AA978"/>
                </a:solidFill>
                <a:latin typeface="IBM Plex Mono" pitchFamily="34" charset="0"/>
                <a:ea typeface="IBM Plex Mono" pitchFamily="34" charset="-122"/>
                <a:cs typeface="IBM Plex Mono" pitchFamily="34" charset="-120"/>
              </a:rPr>
              <a:t>PIPELINE.LOG — /FEATURE/ENGINEERING</a:t>
            </a:r>
            <a:endParaRPr lang="en-US" sz="900" dirty="0"/>
          </a:p>
        </p:txBody>
      </p:sp>
      <p:sp>
        <p:nvSpPr>
          <p:cNvPr id="3" name="Text 1"/>
          <p:cNvSpPr/>
          <p:nvPr/>
        </p:nvSpPr>
        <p:spPr>
          <a:xfrm>
            <a:off x="260343" y="743148"/>
            <a:ext cx="11671008" cy="359767"/>
          </a:xfrm>
          <a:prstGeom prst="rect">
            <a:avLst/>
          </a:prstGeom>
          <a:noFill/>
          <a:ln/>
        </p:spPr>
        <p:txBody>
          <a:bodyPr wrap="none" lIns="0" tIns="0" rIns="0" bIns="0" rtlCol="0" anchor="t"/>
          <a:lstStyle/>
          <a:p>
            <a:pPr marL="0" indent="0" algn="l">
              <a:lnSpc>
                <a:spcPct val="85000"/>
              </a:lnSpc>
              <a:buNone/>
            </a:pPr>
            <a:r>
              <a:rPr lang="en-US" sz="2800" kern="0" spc="-69" dirty="0">
                <a:solidFill>
                  <a:srgbClr val="D7FFE0"/>
                </a:solidFill>
                <a:latin typeface="IBM Plex Mono SemiBold" pitchFamily="34" charset="0"/>
                <a:ea typeface="IBM Plex Mono SemiBold" pitchFamily="34" charset="-122"/>
                <a:cs typeface="IBM Plex Mono SemiBold" pitchFamily="34" charset="-120"/>
              </a:rPr>
              <a:t>DEEP LEARNING &amp; FEATURE ENGINEERING PIPELINE</a:t>
            </a:r>
            <a:endParaRPr lang="en-US" sz="2800" dirty="0"/>
          </a:p>
        </p:txBody>
      </p:sp>
      <p:sp>
        <p:nvSpPr>
          <p:cNvPr id="4" name="Text 2"/>
          <p:cNvSpPr/>
          <p:nvPr/>
        </p:nvSpPr>
        <p:spPr>
          <a:xfrm>
            <a:off x="260343" y="1207988"/>
            <a:ext cx="11918652" cy="156071"/>
          </a:xfrm>
          <a:prstGeom prst="rect">
            <a:avLst/>
          </a:prstGeom>
          <a:noFill/>
          <a:ln/>
        </p:spPr>
        <p:txBody>
          <a:bodyPr wrap="none" lIns="0" tIns="0" rIns="0" bIns="0" rtlCol="0" anchor="t"/>
          <a:lstStyle/>
          <a:p>
            <a:pPr marL="0" indent="0" algn="l">
              <a:lnSpc>
                <a:spcPct val="97000"/>
              </a:lnSpc>
              <a:buNone/>
            </a:pPr>
            <a:r>
              <a:rPr lang="en-US" sz="1050" b="1" dirty="0">
                <a:solidFill>
                  <a:srgbClr val="B8F7C2"/>
                </a:solidFill>
                <a:latin typeface="IBM Plex Mono Bold" pitchFamily="34" charset="0"/>
                <a:ea typeface="IBM Plex Mono Bold" pitchFamily="34" charset="-122"/>
                <a:cs typeface="IBM Plex Mono Bold" pitchFamily="34" charset="-120"/>
              </a:rPr>
              <a:t>Converting 1D Time-Series into 2D Spatial Features for Lag-Free Squeeze Detection</a:t>
            </a:r>
            <a:endParaRPr lang="en-US" sz="1050" dirty="0"/>
          </a:p>
        </p:txBody>
      </p:sp>
      <p:sp>
        <p:nvSpPr>
          <p:cNvPr id="5" name="Text 3"/>
          <p:cNvSpPr/>
          <p:nvPr/>
        </p:nvSpPr>
        <p:spPr>
          <a:xfrm>
            <a:off x="438139" y="1636812"/>
            <a:ext cx="3923706" cy="556816"/>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D7FFE0"/>
                </a:solidFill>
                <a:latin typeface="IBM Plex Mono Medium" pitchFamily="34" charset="0"/>
                <a:ea typeface="IBM Plex Mono Medium" pitchFamily="34" charset="-122"/>
                <a:cs typeface="IBM Plex Mono Medium" pitchFamily="34" charset="-120"/>
              </a:rPr>
              <a:t>Why Spatial Images Beat Indicators</a:t>
            </a:r>
            <a:endParaRPr lang="en-US" sz="1750" dirty="0"/>
          </a:p>
        </p:txBody>
      </p:sp>
      <p:sp>
        <p:nvSpPr>
          <p:cNvPr id="6" name="Text 4"/>
          <p:cNvSpPr/>
          <p:nvPr/>
        </p:nvSpPr>
        <p:spPr>
          <a:xfrm>
            <a:off x="438139" y="2269927"/>
            <a:ext cx="3923706" cy="1092498"/>
          </a:xfrm>
          <a:prstGeom prst="rect">
            <a:avLst/>
          </a:prstGeom>
          <a:noFill/>
          <a:ln/>
        </p:spPr>
        <p:txBody>
          <a:bodyPr wrap="square" lIns="0" tIns="0" rIns="0" bIns="0" rtlCol="0" anchor="t">
            <a:normAutofit/>
          </a:bodyPr>
          <a:lstStyle/>
          <a:p>
            <a:pPr marL="0" indent="0" algn="l">
              <a:lnSpc>
                <a:spcPct val="97000"/>
              </a:lnSpc>
              <a:buNone/>
            </a:pPr>
            <a:r>
              <a:rPr lang="en-US" sz="1050" dirty="0">
                <a:solidFill>
                  <a:srgbClr val="B8F7C2"/>
                </a:solidFill>
                <a:latin typeface="IBM Plex Mono" pitchFamily="34" charset="0"/>
                <a:ea typeface="IBM Plex Mono" pitchFamily="34" charset="-122"/>
                <a:cs typeface="IBM Plex Mono" pitchFamily="34" charset="-120"/>
              </a:rPr>
              <a:t>Traditional moving averages and technical indicators lag behind rapid price shifts. By converting 1D price time-series into 2D polar image tensors (Gramian Angular Fields), visual Convolutional Neural Networks (CNNs) can spot structural "compression fingerprints" instantly without lag.</a:t>
            </a:r>
            <a:endParaRPr lang="en-US" sz="1050" dirty="0"/>
          </a:p>
        </p:txBody>
      </p:sp>
      <p:sp>
        <p:nvSpPr>
          <p:cNvPr id="7" name="Text 5"/>
          <p:cNvSpPr/>
          <p:nvPr/>
        </p:nvSpPr>
        <p:spPr>
          <a:xfrm>
            <a:off x="438139" y="3457377"/>
            <a:ext cx="3923706" cy="83522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D7FFE0"/>
                </a:solidFill>
                <a:latin typeface="IBM Plex Mono Medium" pitchFamily="34" charset="0"/>
                <a:ea typeface="IBM Plex Mono Medium" pitchFamily="34" charset="-122"/>
                <a:cs typeface="IBM Plex Mono Medium" pitchFamily="34" charset="-120"/>
              </a:rPr>
              <a:t>Dual-Branch Neural Architecture &amp; Asymmetric Loss</a:t>
            </a:r>
            <a:endParaRPr lang="en-US" sz="1750" dirty="0"/>
          </a:p>
        </p:txBody>
      </p:sp>
      <p:sp>
        <p:nvSpPr>
          <p:cNvPr id="8" name="Text 6"/>
          <p:cNvSpPr/>
          <p:nvPr/>
        </p:nvSpPr>
        <p:spPr>
          <a:xfrm>
            <a:off x="438139" y="4368899"/>
            <a:ext cx="3923706" cy="1526679"/>
          </a:xfrm>
          <a:prstGeom prst="rect">
            <a:avLst/>
          </a:prstGeom>
          <a:noFill/>
          <a:ln/>
        </p:spPr>
        <p:txBody>
          <a:bodyPr wrap="square" lIns="0" tIns="0" rIns="0" bIns="0" rtlCol="0" anchor="t">
            <a:normAutofit/>
          </a:bodyPr>
          <a:lstStyle/>
          <a:p>
            <a:pPr marL="0" indent="0" algn="l">
              <a:lnSpc>
                <a:spcPct val="97000"/>
              </a:lnSpc>
              <a:spcAft>
                <a:spcPts val="450"/>
              </a:spcAft>
              <a:buNone/>
            </a:pPr>
            <a:r>
              <a:rPr lang="en-US" sz="1050" b="1" dirty="0">
                <a:solidFill>
                  <a:srgbClr val="B8F7C2"/>
                </a:solidFill>
                <a:latin typeface="IBM Plex Mono Bold" pitchFamily="34" charset="0"/>
                <a:ea typeface="IBM Plex Mono Bold" pitchFamily="34" charset="-122"/>
                <a:cs typeface="IBM Plex Mono Bold" pitchFamily="34" charset="-120"/>
              </a:rPr>
              <a:t>Branch A (CNN):</a:t>
            </a:r>
            <a:r>
              <a:rPr lang="en-US" sz="1050" dirty="0">
                <a:solidFill>
                  <a:srgbClr val="B8F7C2"/>
                </a:solidFill>
                <a:latin typeface="IBM Plex Mono" pitchFamily="34" charset="0"/>
                <a:ea typeface="IBM Plex Mono" pitchFamily="34" charset="-122"/>
                <a:cs typeface="IBM Plex Mono" pitchFamily="34" charset="-120"/>
              </a:rPr>
              <a:t> Extracts spatial geometry, shapes, and structural compression clusters from 2D GASF maps.</a:t>
            </a:r>
            <a:endParaRPr lang="en-US" sz="1050" dirty="0"/>
          </a:p>
          <a:p>
            <a:pPr marL="0" indent="0" algn="l">
              <a:lnSpc>
                <a:spcPct val="97000"/>
              </a:lnSpc>
              <a:spcAft>
                <a:spcPts val="450"/>
              </a:spcAft>
              <a:buNone/>
            </a:pPr>
            <a:r>
              <a:rPr lang="en-US" sz="1050" b="1" dirty="0">
                <a:solidFill>
                  <a:srgbClr val="B8F7C2"/>
                </a:solidFill>
                <a:latin typeface="IBM Plex Mono Bold" pitchFamily="34" charset="0"/>
                <a:ea typeface="IBM Plex Mono Bold" pitchFamily="34" charset="-122"/>
                <a:cs typeface="IBM Plex Mono Bold" pitchFamily="34" charset="-120"/>
              </a:rPr>
              <a:t>Branch B (LSTM):</a:t>
            </a:r>
            <a:r>
              <a:rPr lang="en-US" sz="1050" dirty="0">
                <a:solidFill>
                  <a:srgbClr val="B8F7C2"/>
                </a:solidFill>
                <a:latin typeface="IBM Plex Mono" pitchFamily="34" charset="0"/>
                <a:ea typeface="IBM Plex Mono" pitchFamily="34" charset="-122"/>
                <a:cs typeface="IBM Plex Mono" pitchFamily="34" charset="-120"/>
              </a:rPr>
              <a:t> Processes sequential continuous time-series to retain temporal memory and short-term momentum.</a:t>
            </a:r>
            <a:endParaRPr lang="en-US" sz="1050" dirty="0"/>
          </a:p>
          <a:p>
            <a:pPr marL="0" indent="0" algn="l">
              <a:lnSpc>
                <a:spcPct val="97000"/>
              </a:lnSpc>
              <a:buNone/>
            </a:pPr>
            <a:r>
              <a:rPr lang="en-US" sz="1050" b="1" dirty="0">
                <a:solidFill>
                  <a:srgbClr val="B8F7C2"/>
                </a:solidFill>
                <a:latin typeface="IBM Plex Mono Bold" pitchFamily="34" charset="0"/>
                <a:ea typeface="IBM Plex Mono Bold" pitchFamily="34" charset="-122"/>
                <a:cs typeface="IBM Plex Mono Bold" pitchFamily="34" charset="-120"/>
              </a:rPr>
              <a:t>Asymmetric QLIKE Loss:</a:t>
            </a:r>
            <a:r>
              <a:rPr lang="en-US" sz="1050" dirty="0">
                <a:solidFill>
                  <a:srgbClr val="B8F7C2"/>
                </a:solidFill>
                <a:latin typeface="IBM Plex Mono" pitchFamily="34" charset="0"/>
                <a:ea typeface="IBM Plex Mono" pitchFamily="34" charset="-122"/>
                <a:cs typeface="IBM Plex Mono" pitchFamily="34" charset="-120"/>
              </a:rPr>
              <a:t> Heavily penalizes volatility </a:t>
            </a:r>
            <a:r>
              <a:rPr lang="en-US" sz="1050" i="1" dirty="0">
                <a:solidFill>
                  <a:srgbClr val="B8F7C2"/>
                </a:solidFill>
                <a:latin typeface="IBM Plex Mono" pitchFamily="34" charset="0"/>
                <a:ea typeface="IBM Plex Mono" pitchFamily="34" charset="-122"/>
                <a:cs typeface="IBM Plex Mono" pitchFamily="34" charset="-120"/>
              </a:rPr>
              <a:t>underestimation</a:t>
            </a:r>
            <a:r>
              <a:rPr lang="en-US" sz="1050" dirty="0">
                <a:solidFill>
                  <a:srgbClr val="B8F7C2"/>
                </a:solidFill>
                <a:latin typeface="IBM Plex Mono" pitchFamily="34" charset="0"/>
                <a:ea typeface="IBM Plex Mono" pitchFamily="34" charset="-122"/>
                <a:cs typeface="IBM Plex Mono" pitchFamily="34" charset="-120"/>
              </a:rPr>
              <a:t> to protect capital during ETH market shocks:</a:t>
            </a:r>
            <a:endParaRPr lang="en-US" sz="1050" dirty="0"/>
          </a:p>
        </p:txBody>
      </p:sp>
      <p:pic>
        <p:nvPicPr>
          <p:cNvPr id="9" name="Image 0" descr="preencoded.png"/>
          <p:cNvPicPr>
            <a:picLocks noChangeAspect="1"/>
          </p:cNvPicPr>
          <p:nvPr/>
        </p:nvPicPr>
        <p:blipFill>
          <a:blip r:embed="rId3"/>
          <a:stretch>
            <a:fillRect/>
          </a:stretch>
        </p:blipFill>
        <p:spPr>
          <a:xfrm>
            <a:off x="438139" y="5956598"/>
            <a:ext cx="3923706" cy="500360"/>
          </a:xfrm>
          <a:prstGeom prst="rect">
            <a:avLst/>
          </a:prstGeom>
        </p:spPr>
      </p:pic>
      <p:sp>
        <p:nvSpPr>
          <p:cNvPr id="10" name="Text 7"/>
          <p:cNvSpPr/>
          <p:nvPr/>
        </p:nvSpPr>
        <p:spPr>
          <a:xfrm>
            <a:off x="4717436" y="1636812"/>
            <a:ext cx="7036120" cy="278408"/>
          </a:xfrm>
          <a:prstGeom prst="rect">
            <a:avLst/>
          </a:prstGeom>
          <a:noFill/>
          <a:ln/>
        </p:spPr>
        <p:txBody>
          <a:bodyPr wrap="none" lIns="0" tIns="0" rIns="0" bIns="0" rtlCol="0" anchor="t"/>
          <a:lstStyle/>
          <a:p>
            <a:pPr marL="0" indent="0" algn="l">
              <a:lnSpc>
                <a:spcPct val="104000"/>
              </a:lnSpc>
              <a:buNone/>
            </a:pPr>
            <a:r>
              <a:rPr lang="en-US" sz="1750" dirty="0">
                <a:solidFill>
                  <a:srgbClr val="D7FFE0"/>
                </a:solidFill>
                <a:latin typeface="IBM Plex Mono Medium" pitchFamily="34" charset="0"/>
                <a:ea typeface="IBM Plex Mono Medium" pitchFamily="34" charset="-122"/>
                <a:cs typeface="IBM Plex Mono Medium" pitchFamily="34" charset="-120"/>
              </a:rPr>
              <a:t>Technical Architecture &amp; Feature Pipeline</a:t>
            </a:r>
            <a:endParaRPr lang="en-US" sz="1750" dirty="0"/>
          </a:p>
        </p:txBody>
      </p:sp>
      <p:sp>
        <p:nvSpPr>
          <p:cNvPr id="11" name="Shape 8"/>
          <p:cNvSpPr/>
          <p:nvPr/>
        </p:nvSpPr>
        <p:spPr>
          <a:xfrm>
            <a:off x="4717436" y="1991519"/>
            <a:ext cx="374839" cy="267990"/>
          </a:xfrm>
          <a:prstGeom prst="rect">
            <a:avLst/>
          </a:prstGeom>
          <a:noFill/>
          <a:ln w="19050">
            <a:solidFill>
              <a:srgbClr val="3B403E"/>
            </a:solidFill>
            <a:prstDash val="solid"/>
          </a:ln>
          <a:effectLst>
            <a:outerShdw blurRad="127" dist="19050" dir="2700000" algn="bl" rotWithShape="0">
              <a:srgbClr val="3B403E">
                <a:alpha val="100000"/>
              </a:srgbClr>
            </a:outerShdw>
          </a:effectLst>
        </p:spPr>
      </p:sp>
      <p:sp>
        <p:nvSpPr>
          <p:cNvPr id="12" name="Text 9"/>
          <p:cNvSpPr/>
          <p:nvPr/>
        </p:nvSpPr>
        <p:spPr>
          <a:xfrm>
            <a:off x="4812981" y="2048867"/>
            <a:ext cx="793333" cy="153194"/>
          </a:xfrm>
          <a:prstGeom prst="rect">
            <a:avLst/>
          </a:prstGeom>
          <a:noFill/>
          <a:ln/>
        </p:spPr>
        <p:txBody>
          <a:bodyPr wrap="none" lIns="0" tIns="0" rIns="0" bIns="0" rtlCol="0" anchor="t"/>
          <a:lstStyle/>
          <a:p>
            <a:pPr marL="0" indent="0" algn="l">
              <a:lnSpc>
                <a:spcPct val="83000"/>
              </a:lnSpc>
              <a:buNone/>
            </a:pPr>
            <a:r>
              <a:rPr lang="en-US" sz="1200" dirty="0">
                <a:solidFill>
                  <a:srgbClr val="39FF6A"/>
                </a:solidFill>
                <a:latin typeface="IBM Plex Mono SemiBold" pitchFamily="34" charset="0"/>
                <a:ea typeface="IBM Plex Mono SemiBold" pitchFamily="34" charset="-122"/>
                <a:cs typeface="IBM Plex Mono SemiBold" pitchFamily="34" charset="-120"/>
              </a:rPr>
              <a:t>01</a:t>
            </a:r>
            <a:endParaRPr lang="en-US" sz="1200" dirty="0"/>
          </a:p>
        </p:txBody>
      </p:sp>
      <p:sp>
        <p:nvSpPr>
          <p:cNvPr id="13" name="Text 10"/>
          <p:cNvSpPr/>
          <p:nvPr/>
        </p:nvSpPr>
        <p:spPr>
          <a:xfrm>
            <a:off x="5320869" y="2010767"/>
            <a:ext cx="6432687" cy="220464"/>
          </a:xfrm>
          <a:prstGeom prst="rect">
            <a:avLst/>
          </a:prstGeom>
          <a:noFill/>
          <a:ln/>
        </p:spPr>
        <p:txBody>
          <a:bodyPr wrap="none" lIns="0" tIns="0" rIns="0" bIns="0" rtlCol="0" anchor="t"/>
          <a:lstStyle/>
          <a:p>
            <a:pPr marL="0" indent="0" algn="l">
              <a:lnSpc>
                <a:spcPct val="104000"/>
              </a:lnSpc>
              <a:buNone/>
            </a:pPr>
            <a:r>
              <a:rPr lang="en-US" sz="1400" dirty="0">
                <a:solidFill>
                  <a:srgbClr val="D7FFE0"/>
                </a:solidFill>
                <a:latin typeface="IBM Plex Mono Medium" pitchFamily="34" charset="0"/>
                <a:ea typeface="IBM Plex Mono Medium" pitchFamily="34" charset="-122"/>
                <a:cs typeface="IBM Plex Mono Medium" pitchFamily="34" charset="-120"/>
              </a:rPr>
              <a:t>Input Features (6 Signals):</a:t>
            </a:r>
            <a:endParaRPr lang="en-US" sz="1400" dirty="0"/>
          </a:p>
        </p:txBody>
      </p:sp>
      <p:sp>
        <p:nvSpPr>
          <p:cNvPr id="14" name="Text 11"/>
          <p:cNvSpPr/>
          <p:nvPr/>
        </p:nvSpPr>
        <p:spPr>
          <a:xfrm>
            <a:off x="5320869" y="2307530"/>
            <a:ext cx="6432687" cy="312142"/>
          </a:xfrm>
          <a:prstGeom prst="rect">
            <a:avLst/>
          </a:prstGeom>
          <a:noFill/>
          <a:ln/>
        </p:spPr>
        <p:txBody>
          <a:bodyPr wrap="square" lIns="0" tIns="0" rIns="0" bIns="0" rtlCol="0" anchor="t">
            <a:normAutofit/>
          </a:bodyPr>
          <a:lstStyle/>
          <a:p>
            <a:pPr marL="0" indent="0" algn="l">
              <a:lnSpc>
                <a:spcPct val="97000"/>
              </a:lnSpc>
              <a:buNone/>
            </a:pPr>
            <a:r>
              <a:rPr lang="en-US" sz="1050" dirty="0">
                <a:solidFill>
                  <a:srgbClr val="B8F7C2"/>
                </a:solidFill>
                <a:latin typeface="IBM Plex Mono" pitchFamily="34" charset="0"/>
                <a:ea typeface="IBM Plex Mono" pitchFamily="34" charset="-122"/>
                <a:cs typeface="IBM Plex Mono" pitchFamily="34" charset="-120"/>
              </a:rPr>
              <a:t>Log returns, Garman-Klass volatility, log range, volume acceleration, body gap, and normalized close position on ETH/USDT (2024–2025 data).</a:t>
            </a:r>
            <a:endParaRPr lang="en-US" sz="1050" dirty="0"/>
          </a:p>
        </p:txBody>
      </p:sp>
      <p:sp>
        <p:nvSpPr>
          <p:cNvPr id="15" name="Shape 12"/>
          <p:cNvSpPr/>
          <p:nvPr/>
        </p:nvSpPr>
        <p:spPr>
          <a:xfrm>
            <a:off x="4717436" y="3369866"/>
            <a:ext cx="374839" cy="267990"/>
          </a:xfrm>
          <a:prstGeom prst="rect">
            <a:avLst/>
          </a:prstGeom>
          <a:noFill/>
          <a:ln w="19050">
            <a:solidFill>
              <a:srgbClr val="3B403E"/>
            </a:solidFill>
            <a:prstDash val="solid"/>
          </a:ln>
          <a:effectLst>
            <a:outerShdw blurRad="127" dist="19050" dir="2700000" algn="bl" rotWithShape="0">
              <a:srgbClr val="3B403E">
                <a:alpha val="100000"/>
              </a:srgbClr>
            </a:outerShdw>
          </a:effectLst>
        </p:spPr>
      </p:sp>
      <p:sp>
        <p:nvSpPr>
          <p:cNvPr id="16" name="Text 13"/>
          <p:cNvSpPr/>
          <p:nvPr/>
        </p:nvSpPr>
        <p:spPr>
          <a:xfrm>
            <a:off x="4812981" y="3427214"/>
            <a:ext cx="793333" cy="153194"/>
          </a:xfrm>
          <a:prstGeom prst="rect">
            <a:avLst/>
          </a:prstGeom>
          <a:noFill/>
          <a:ln/>
        </p:spPr>
        <p:txBody>
          <a:bodyPr wrap="none" lIns="0" tIns="0" rIns="0" bIns="0" rtlCol="0" anchor="t"/>
          <a:lstStyle/>
          <a:p>
            <a:pPr marL="0" indent="0" algn="l">
              <a:lnSpc>
                <a:spcPct val="83000"/>
              </a:lnSpc>
              <a:buNone/>
            </a:pPr>
            <a:r>
              <a:rPr lang="en-US" sz="1200" dirty="0">
                <a:solidFill>
                  <a:srgbClr val="39FF6A"/>
                </a:solidFill>
                <a:latin typeface="IBM Plex Mono SemiBold" pitchFamily="34" charset="0"/>
                <a:ea typeface="IBM Plex Mono SemiBold" pitchFamily="34" charset="-122"/>
                <a:cs typeface="IBM Plex Mono SemiBold" pitchFamily="34" charset="-120"/>
              </a:rPr>
              <a:t>02</a:t>
            </a:r>
            <a:endParaRPr lang="en-US" sz="1200" dirty="0"/>
          </a:p>
        </p:txBody>
      </p:sp>
      <p:sp>
        <p:nvSpPr>
          <p:cNvPr id="17" name="Text 14"/>
          <p:cNvSpPr/>
          <p:nvPr/>
        </p:nvSpPr>
        <p:spPr>
          <a:xfrm>
            <a:off x="5320869" y="3389114"/>
            <a:ext cx="6432687" cy="220464"/>
          </a:xfrm>
          <a:prstGeom prst="rect">
            <a:avLst/>
          </a:prstGeom>
          <a:noFill/>
          <a:ln/>
        </p:spPr>
        <p:txBody>
          <a:bodyPr wrap="none" lIns="0" tIns="0" rIns="0" bIns="0" rtlCol="0" anchor="t"/>
          <a:lstStyle/>
          <a:p>
            <a:pPr marL="0" indent="0" algn="l">
              <a:lnSpc>
                <a:spcPct val="104000"/>
              </a:lnSpc>
              <a:buNone/>
            </a:pPr>
            <a:r>
              <a:rPr lang="en-US" sz="1400" dirty="0">
                <a:solidFill>
                  <a:srgbClr val="D7FFE0"/>
                </a:solidFill>
                <a:latin typeface="IBM Plex Mono Medium" pitchFamily="34" charset="0"/>
                <a:ea typeface="IBM Plex Mono Medium" pitchFamily="34" charset="-122"/>
                <a:cs typeface="IBM Plex Mono Medium" pitchFamily="34" charset="-120"/>
              </a:rPr>
              <a:t>Signal Filtering (SWT):</a:t>
            </a:r>
            <a:endParaRPr lang="en-US" sz="1400" dirty="0"/>
          </a:p>
        </p:txBody>
      </p:sp>
      <p:sp>
        <p:nvSpPr>
          <p:cNvPr id="18" name="Text 15"/>
          <p:cNvSpPr/>
          <p:nvPr/>
        </p:nvSpPr>
        <p:spPr>
          <a:xfrm>
            <a:off x="5320869" y="3685877"/>
            <a:ext cx="6432687" cy="468213"/>
          </a:xfrm>
          <a:prstGeom prst="rect">
            <a:avLst/>
          </a:prstGeom>
          <a:noFill/>
          <a:ln/>
        </p:spPr>
        <p:txBody>
          <a:bodyPr wrap="square" lIns="0" tIns="0" rIns="0" bIns="0" rtlCol="0" anchor="t">
            <a:normAutofit/>
          </a:bodyPr>
          <a:lstStyle/>
          <a:p>
            <a:pPr marL="0" indent="0" algn="l">
              <a:lnSpc>
                <a:spcPct val="97000"/>
              </a:lnSpc>
              <a:buNone/>
            </a:pPr>
            <a:r>
              <a:rPr lang="en-US" sz="1050" dirty="0">
                <a:solidFill>
                  <a:srgbClr val="B8F7C2"/>
                </a:solidFill>
                <a:latin typeface="IBM Plex Mono" pitchFamily="34" charset="0"/>
                <a:ea typeface="IBM Plex Mono" pitchFamily="34" charset="-122"/>
                <a:cs typeface="IBM Plex Mono" pitchFamily="34" charset="-120"/>
              </a:rPr>
              <a:t>Stationary Wavelet Transform using Daubechies 4 (</a:t>
            </a:r>
            <a:r>
              <a:rPr lang="en-US" sz="1050" dirty="0">
                <a:solidFill>
                  <a:srgbClr val="B8F7C2"/>
                </a:solidFill>
                <a:highlight>
                  <a:srgbClr val="07110C"/>
                </a:highlight>
                <a:latin typeface="Consolas" pitchFamily="34" charset="0"/>
                <a:ea typeface="Consolas" pitchFamily="34" charset="-122"/>
                <a:cs typeface="Consolas" pitchFamily="34" charset="-120"/>
              </a:rPr>
              <a:t>db4</a:t>
            </a:r>
            <a:r>
              <a:rPr lang="en-US" sz="1050" dirty="0">
                <a:solidFill>
                  <a:srgbClr val="B8F7C2"/>
                </a:solidFill>
                <a:latin typeface="IBM Plex Mono" pitchFamily="34" charset="0"/>
                <a:ea typeface="IBM Plex Mono" pitchFamily="34" charset="-122"/>
                <a:cs typeface="IBM Plex Mono" pitchFamily="34" charset="-120"/>
              </a:rPr>
              <a:t>) wavelets decomposes signals into macro trend and high-frequency noise without lagging moving average shifts.</a:t>
            </a:r>
            <a:endParaRPr lang="en-US" sz="1050" dirty="0"/>
          </a:p>
        </p:txBody>
      </p:sp>
      <p:sp>
        <p:nvSpPr>
          <p:cNvPr id="19" name="Shape 16"/>
          <p:cNvSpPr/>
          <p:nvPr/>
        </p:nvSpPr>
        <p:spPr>
          <a:xfrm>
            <a:off x="4717436" y="4904284"/>
            <a:ext cx="374839" cy="267990"/>
          </a:xfrm>
          <a:prstGeom prst="rect">
            <a:avLst/>
          </a:prstGeom>
          <a:noFill/>
          <a:ln w="19050">
            <a:solidFill>
              <a:srgbClr val="3B403E"/>
            </a:solidFill>
            <a:prstDash val="solid"/>
          </a:ln>
          <a:effectLst>
            <a:outerShdw blurRad="127" dist="19050" dir="2700000" algn="bl" rotWithShape="0">
              <a:srgbClr val="3B403E">
                <a:alpha val="100000"/>
              </a:srgbClr>
            </a:outerShdw>
          </a:effectLst>
        </p:spPr>
      </p:sp>
      <p:sp>
        <p:nvSpPr>
          <p:cNvPr id="20" name="Text 17"/>
          <p:cNvSpPr/>
          <p:nvPr/>
        </p:nvSpPr>
        <p:spPr>
          <a:xfrm>
            <a:off x="4812981" y="4961632"/>
            <a:ext cx="793333" cy="153194"/>
          </a:xfrm>
          <a:prstGeom prst="rect">
            <a:avLst/>
          </a:prstGeom>
          <a:noFill/>
          <a:ln/>
        </p:spPr>
        <p:txBody>
          <a:bodyPr wrap="none" lIns="0" tIns="0" rIns="0" bIns="0" rtlCol="0" anchor="t"/>
          <a:lstStyle/>
          <a:p>
            <a:pPr marL="0" indent="0" algn="l">
              <a:lnSpc>
                <a:spcPct val="83000"/>
              </a:lnSpc>
              <a:buNone/>
            </a:pPr>
            <a:r>
              <a:rPr lang="en-US" sz="1200" dirty="0">
                <a:solidFill>
                  <a:srgbClr val="39FF6A"/>
                </a:solidFill>
                <a:latin typeface="IBM Plex Mono SemiBold" pitchFamily="34" charset="0"/>
                <a:ea typeface="IBM Plex Mono SemiBold" pitchFamily="34" charset="-122"/>
                <a:cs typeface="IBM Plex Mono SemiBold" pitchFamily="34" charset="-120"/>
              </a:rPr>
              <a:t>03</a:t>
            </a:r>
            <a:endParaRPr lang="en-US" sz="1200" dirty="0"/>
          </a:p>
        </p:txBody>
      </p:sp>
      <p:sp>
        <p:nvSpPr>
          <p:cNvPr id="21" name="Text 18"/>
          <p:cNvSpPr/>
          <p:nvPr/>
        </p:nvSpPr>
        <p:spPr>
          <a:xfrm>
            <a:off x="5320869" y="4923532"/>
            <a:ext cx="6432687" cy="220464"/>
          </a:xfrm>
          <a:prstGeom prst="rect">
            <a:avLst/>
          </a:prstGeom>
          <a:noFill/>
          <a:ln/>
        </p:spPr>
        <p:txBody>
          <a:bodyPr wrap="none" lIns="0" tIns="0" rIns="0" bIns="0" rtlCol="0" anchor="t"/>
          <a:lstStyle/>
          <a:p>
            <a:pPr marL="0" indent="0" algn="l">
              <a:lnSpc>
                <a:spcPct val="104000"/>
              </a:lnSpc>
              <a:buNone/>
            </a:pPr>
            <a:r>
              <a:rPr lang="en-US" sz="1400" dirty="0">
                <a:solidFill>
                  <a:srgbClr val="D7FFE0"/>
                </a:solidFill>
                <a:latin typeface="IBM Plex Mono Medium" pitchFamily="34" charset="0"/>
                <a:ea typeface="IBM Plex Mono Medium" pitchFamily="34" charset="-122"/>
                <a:cs typeface="IBM Plex Mono Medium" pitchFamily="34" charset="-120"/>
              </a:rPr>
              <a:t>Spatial Encoding (GASF):</a:t>
            </a:r>
            <a:endParaRPr lang="en-US" sz="1400" dirty="0"/>
          </a:p>
        </p:txBody>
      </p:sp>
      <p:sp>
        <p:nvSpPr>
          <p:cNvPr id="22" name="Text 19"/>
          <p:cNvSpPr/>
          <p:nvPr/>
        </p:nvSpPr>
        <p:spPr>
          <a:xfrm>
            <a:off x="5320869" y="5220295"/>
            <a:ext cx="6432687" cy="312142"/>
          </a:xfrm>
          <a:prstGeom prst="rect">
            <a:avLst/>
          </a:prstGeom>
          <a:noFill/>
          <a:ln/>
        </p:spPr>
        <p:txBody>
          <a:bodyPr wrap="square" lIns="0" tIns="0" rIns="0" bIns="0" rtlCol="0" anchor="t">
            <a:normAutofit/>
          </a:bodyPr>
          <a:lstStyle/>
          <a:p>
            <a:pPr marL="0" indent="0" algn="l">
              <a:lnSpc>
                <a:spcPct val="97000"/>
              </a:lnSpc>
              <a:buNone/>
            </a:pPr>
            <a:r>
              <a:rPr lang="en-US" sz="1050" dirty="0">
                <a:solidFill>
                  <a:srgbClr val="B8F7C2"/>
                </a:solidFill>
                <a:latin typeface="IBM Plex Mono" pitchFamily="34" charset="0"/>
                <a:ea typeface="IBM Plex Mono" pitchFamily="34" charset="-122"/>
                <a:cs typeface="IBM Plex Mono" pitchFamily="34" charset="-120"/>
              </a:rPr>
              <a:t>Maps 1D wavelet matrices into 2D polar coordinates using Gramian Angular Summation Fields:</a:t>
            </a:r>
            <a:endParaRPr lang="en-US" sz="1050" dirty="0"/>
          </a:p>
        </p:txBody>
      </p:sp>
      <p:pic>
        <p:nvPicPr>
          <p:cNvPr id="23" name="Image 1" descr="preencoded.png"/>
          <p:cNvPicPr>
            <a:picLocks noChangeAspect="1"/>
          </p:cNvPicPr>
          <p:nvPr/>
        </p:nvPicPr>
        <p:blipFill>
          <a:blip r:embed="rId4"/>
          <a:stretch>
            <a:fillRect/>
          </a:stretch>
        </p:blipFill>
        <p:spPr>
          <a:xfrm>
            <a:off x="5320869" y="5593457"/>
            <a:ext cx="6432687" cy="262830"/>
          </a:xfrm>
          <a:prstGeom prst="rect">
            <a:avLst/>
          </a:prstGeom>
        </p:spPr>
      </p:pic>
      <p:sp>
        <p:nvSpPr>
          <p:cNvPr id="24" name="Text 20"/>
          <p:cNvSpPr/>
          <p:nvPr/>
        </p:nvSpPr>
        <p:spPr>
          <a:xfrm>
            <a:off x="5320869" y="5917307"/>
            <a:ext cx="6432687" cy="170458"/>
          </a:xfrm>
          <a:prstGeom prst="rect">
            <a:avLst/>
          </a:prstGeom>
          <a:noFill/>
          <a:ln/>
        </p:spPr>
        <p:txBody>
          <a:bodyPr wrap="none" lIns="0" tIns="0" rIns="0" bIns="0" rtlCol="0" anchor="t"/>
          <a:lstStyle/>
          <a:p>
            <a:pPr marL="0" indent="0" algn="l">
              <a:lnSpc>
                <a:spcPct val="97000"/>
              </a:lnSpc>
              <a:buNone/>
            </a:pPr>
            <a:r>
              <a:rPr lang="en-US" sz="1050" dirty="0">
                <a:solidFill>
                  <a:srgbClr val="B8F7C2"/>
                </a:solidFill>
                <a:latin typeface="IBM Plex Mono" pitchFamily="34" charset="0"/>
                <a:ea typeface="IBM Plex Mono" pitchFamily="34" charset="-122"/>
                <a:cs typeface="IBM Plex Mono" pitchFamily="34" charset="-120"/>
              </a:rPr>
              <a:t>Outputs a </a:t>
            </a:r>
            <a:r>
              <a:rPr lang="en-US" sz="1000" i="1" dirty="0">
                <a:solidFill>
                  <a:srgbClr val="B8F7C2"/>
                </a:solidFill>
                <a:latin typeface="Consolas" pitchFamily="34" charset="0"/>
                <a:ea typeface="Consolas" pitchFamily="34" charset="-122"/>
                <a:cs typeface="Consolas" pitchFamily="34" charset="-120"/>
              </a:rPr>
              <a:t>      </a:t>
            </a:r>
            <a:r>
              <a:rPr lang="en-US" sz="1050" dirty="0">
                <a:solidFill>
                  <a:srgbClr val="B8F7C2"/>
                </a:solidFill>
                <a:latin typeface="IBM Plex Mono" pitchFamily="34" charset="0"/>
                <a:ea typeface="IBM Plex Mono" pitchFamily="34" charset="-122"/>
                <a:cs typeface="IBM Plex Mono" pitchFamily="34" charset="-120"/>
              </a:rPr>
              <a:t> image tensor—a visual "fingerprint" of volatility regimes.</a:t>
            </a:r>
            <a:endParaRPr lang="en-US" sz="1050" dirty="0"/>
          </a:p>
        </p:txBody>
      </p:sp>
      <p:pic>
        <p:nvPicPr>
          <p:cNvPr id="25" name="Image 2" descr="preencoded.png"/>
          <p:cNvPicPr>
            <a:picLocks noChangeAspect="1"/>
          </p:cNvPicPr>
          <p:nvPr/>
        </p:nvPicPr>
        <p:blipFill>
          <a:blip r:embed="rId5"/>
          <a:stretch>
            <a:fillRect/>
          </a:stretch>
        </p:blipFill>
        <p:spPr>
          <a:xfrm>
            <a:off x="6095847" y="5908027"/>
            <a:ext cx="715647" cy="157758"/>
          </a:xfrm>
          <a:prstGeom prst="rect">
            <a:avLst/>
          </a:prstGeom>
        </p:spPr>
      </p:pic>
      <p:sp>
        <p:nvSpPr>
          <p:cNvPr id="27" name="Shape 22"/>
          <p:cNvSpPr/>
          <p:nvPr/>
        </p:nvSpPr>
        <p:spPr>
          <a:xfrm>
            <a:off x="4533290" y="1459012"/>
            <a:ext cx="12700" cy="5175746"/>
          </a:xfrm>
          <a:prstGeom prst="rect">
            <a:avLst/>
          </a:prstGeom>
          <a:solidFill>
            <a:srgbClr val="2E6D3F"/>
          </a:solidFill>
          <a:ln/>
        </p:spPr>
      </p:sp>
      <p:sp>
        <p:nvSpPr>
          <p:cNvPr id="28" name="Shape 23"/>
          <p:cNvSpPr/>
          <p:nvPr/>
        </p:nvSpPr>
        <p:spPr>
          <a:xfrm>
            <a:off x="4717436" y="3173016"/>
            <a:ext cx="7036120" cy="12700"/>
          </a:xfrm>
          <a:prstGeom prst="rect">
            <a:avLst/>
          </a:prstGeom>
          <a:solidFill>
            <a:srgbClr val="2E6D3F"/>
          </a:solidFill>
          <a:ln/>
        </p:spPr>
      </p:sp>
      <p:sp>
        <p:nvSpPr>
          <p:cNvPr id="29" name="Shape 24"/>
          <p:cNvSpPr/>
          <p:nvPr/>
        </p:nvSpPr>
        <p:spPr>
          <a:xfrm>
            <a:off x="4717436" y="4707434"/>
            <a:ext cx="7036120" cy="12700"/>
          </a:xfrm>
          <a:prstGeom prst="rect">
            <a:avLst/>
          </a:prstGeom>
          <a:solidFill>
            <a:srgbClr val="2E6D3F"/>
          </a:solidFill>
          <a:ln/>
        </p:spPr>
      </p:sp>
      <p:pic>
        <p:nvPicPr>
          <p:cNvPr id="31" name="Picture 30">
            <a:extLst>
              <a:ext uri="{FF2B5EF4-FFF2-40B4-BE49-F238E27FC236}">
                <a16:creationId xmlns:a16="http://schemas.microsoft.com/office/drawing/2014/main" id="{7135F6FE-6486-450E-A452-BE180C83D5F7}"/>
              </a:ext>
            </a:extLst>
          </p:cNvPr>
          <p:cNvPicPr>
            <a:picLocks noChangeAspect="1"/>
          </p:cNvPicPr>
          <p:nvPr/>
        </p:nvPicPr>
        <p:blipFill>
          <a:blip r:embed="rId6"/>
          <a:stretch>
            <a:fillRect/>
          </a:stretch>
        </p:blipFill>
        <p:spPr>
          <a:xfrm>
            <a:off x="89535" y="6460477"/>
            <a:ext cx="12022455" cy="3270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358571" cy="6858000"/>
          </a:xfrm>
          <a:prstGeom prst="rect">
            <a:avLst/>
          </a:prstGeom>
        </p:spPr>
      </p:pic>
      <p:sp>
        <p:nvSpPr>
          <p:cNvPr id="3" name="Text 0"/>
          <p:cNvSpPr/>
          <p:nvPr/>
        </p:nvSpPr>
        <p:spPr>
          <a:xfrm>
            <a:off x="247644" y="247650"/>
            <a:ext cx="3863283" cy="326827"/>
          </a:xfrm>
          <a:prstGeom prst="rect">
            <a:avLst/>
          </a:prstGeom>
          <a:noFill/>
          <a:ln/>
        </p:spPr>
        <p:txBody>
          <a:bodyPr wrap="square" lIns="101598" tIns="63498" rIns="101598" bIns="63498" rtlCol="0" anchor="t">
            <a:normAutofit/>
          </a:bodyPr>
          <a:lstStyle/>
          <a:p>
            <a:pPr marL="0" indent="0" algn="l">
              <a:lnSpc>
                <a:spcPct val="108000"/>
              </a:lnSpc>
              <a:buNone/>
            </a:pPr>
            <a:r>
              <a:rPr lang="en-US" sz="1050" kern="0" spc="42" dirty="0">
                <a:solidFill>
                  <a:srgbClr val="6AA978"/>
                </a:solidFill>
                <a:latin typeface="IBM Plex Mono" pitchFamily="34" charset="0"/>
                <a:ea typeface="IBM Plex Mono" pitchFamily="34" charset="-122"/>
                <a:cs typeface="IBM Plex Mono" pitchFamily="34" charset="-120"/>
              </a:rPr>
              <a:t>MODEL.REVIEW — /BENCHMARKS</a:t>
            </a:r>
            <a:endParaRPr lang="en-US" sz="1050" dirty="0"/>
          </a:p>
        </p:txBody>
      </p:sp>
      <p:sp>
        <p:nvSpPr>
          <p:cNvPr id="4" name="Text 1"/>
          <p:cNvSpPr/>
          <p:nvPr/>
        </p:nvSpPr>
        <p:spPr>
          <a:xfrm>
            <a:off x="247644" y="814884"/>
            <a:ext cx="3863283" cy="1248370"/>
          </a:xfrm>
          <a:prstGeom prst="rect">
            <a:avLst/>
          </a:prstGeom>
          <a:noFill/>
          <a:ln/>
        </p:spPr>
        <p:txBody>
          <a:bodyPr wrap="square" lIns="0" tIns="0" rIns="0" bIns="0" rtlCol="0" anchor="t">
            <a:normAutofit/>
          </a:bodyPr>
          <a:lstStyle/>
          <a:p>
            <a:pPr marL="0" indent="0" algn="l">
              <a:lnSpc>
                <a:spcPct val="85000"/>
              </a:lnSpc>
              <a:buNone/>
            </a:pPr>
            <a:r>
              <a:rPr lang="en-US" sz="3200" kern="0" spc="-80" dirty="0">
                <a:solidFill>
                  <a:srgbClr val="D7FFE0"/>
                </a:solidFill>
                <a:latin typeface="IBM Plex Mono SemiBold" pitchFamily="34" charset="0"/>
                <a:ea typeface="IBM Plex Mono SemiBold" pitchFamily="34" charset="-122"/>
                <a:cs typeface="IBM Plex Mono SemiBold" pitchFamily="34" charset="-120"/>
              </a:rPr>
              <a:t>MODEL BENCHMARKS &amp; THE ENSEMBLE PARADOX</a:t>
            </a:r>
            <a:endParaRPr lang="en-US" sz="3200" dirty="0"/>
          </a:p>
        </p:txBody>
      </p:sp>
      <p:sp>
        <p:nvSpPr>
          <p:cNvPr id="5" name="Text 2"/>
          <p:cNvSpPr/>
          <p:nvPr/>
        </p:nvSpPr>
        <p:spPr>
          <a:xfrm>
            <a:off x="247644" y="2203847"/>
            <a:ext cx="3863283" cy="577155"/>
          </a:xfrm>
          <a:prstGeom prst="rect">
            <a:avLst/>
          </a:prstGeom>
          <a:noFill/>
          <a:ln/>
        </p:spPr>
        <p:txBody>
          <a:bodyPr wrap="square" lIns="0" tIns="0" rIns="0" bIns="0" rtlCol="0" anchor="t">
            <a:normAutofit/>
          </a:bodyPr>
          <a:lstStyle/>
          <a:p>
            <a:pPr marL="0" indent="0" algn="l">
              <a:lnSpc>
                <a:spcPct val="103000"/>
              </a:lnSpc>
              <a:buNone/>
            </a:pPr>
            <a:r>
              <a:rPr lang="en-US" sz="1250" b="1" dirty="0">
                <a:solidFill>
                  <a:srgbClr val="B8F7C2"/>
                </a:solidFill>
                <a:latin typeface="IBM Plex Mono Bold" pitchFamily="34" charset="0"/>
                <a:ea typeface="IBM Plex Mono Bold" pitchFamily="34" charset="-122"/>
                <a:cs typeface="IBM Plex Mono Bold" pitchFamily="34" charset="-120"/>
              </a:rPr>
              <a:t>Evaluating Statistical Accuracy vs. Backtest Trading Alpha across 2024–2025 Data</a:t>
            </a:r>
            <a:endParaRPr lang="en-US" sz="1250" dirty="0"/>
          </a:p>
        </p:txBody>
      </p:sp>
      <p:sp>
        <p:nvSpPr>
          <p:cNvPr id="6" name="Text 3"/>
          <p:cNvSpPr/>
          <p:nvPr/>
        </p:nvSpPr>
        <p:spPr>
          <a:xfrm>
            <a:off x="247644" y="2882999"/>
            <a:ext cx="3863283" cy="644128"/>
          </a:xfrm>
          <a:prstGeom prst="rect">
            <a:avLst/>
          </a:prstGeom>
          <a:noFill/>
          <a:ln/>
        </p:spPr>
        <p:txBody>
          <a:bodyPr wrap="square" lIns="0" tIns="0" rIns="0" bIns="0" rtlCol="0" anchor="t">
            <a:normAutofit/>
          </a:bodyPr>
          <a:lstStyle/>
          <a:p>
            <a:pPr marL="0" indent="0" algn="l">
              <a:lnSpc>
                <a:spcPct val="104000"/>
              </a:lnSpc>
              <a:buNone/>
            </a:pPr>
            <a:r>
              <a:rPr lang="en-US" sz="2050" dirty="0">
                <a:solidFill>
                  <a:srgbClr val="D7FFE0"/>
                </a:solidFill>
                <a:latin typeface="IBM Plex Mono Medium" pitchFamily="34" charset="0"/>
                <a:ea typeface="IBM Plex Mono Medium" pitchFamily="34" charset="-122"/>
                <a:cs typeface="IBM Plex Mono Medium" pitchFamily="34" charset="-120"/>
              </a:rPr>
              <a:t>Strategy Benchmark Explanation</a:t>
            </a:r>
            <a:endParaRPr lang="en-US" sz="2050" dirty="0"/>
          </a:p>
        </p:txBody>
      </p:sp>
      <p:sp>
        <p:nvSpPr>
          <p:cNvPr id="7" name="Text 4"/>
          <p:cNvSpPr/>
          <p:nvPr/>
        </p:nvSpPr>
        <p:spPr>
          <a:xfrm>
            <a:off x="247644" y="3629124"/>
            <a:ext cx="3863283" cy="1346696"/>
          </a:xfrm>
          <a:prstGeom prst="rect">
            <a:avLst/>
          </a:prstGeom>
          <a:noFill/>
          <a:ln/>
        </p:spPr>
        <p:txBody>
          <a:bodyPr wrap="square" lIns="0" tIns="0" rIns="0" bIns="0" rtlCol="0" anchor="t">
            <a:normAutofit fontScale="92500"/>
          </a:bodyPr>
          <a:lstStyle/>
          <a:p>
            <a:pPr marL="0" indent="0" algn="l">
              <a:lnSpc>
                <a:spcPct val="103000"/>
              </a:lnSpc>
              <a:buNone/>
            </a:pPr>
            <a:r>
              <a:rPr lang="en-US" sz="1250" dirty="0">
                <a:solidFill>
                  <a:srgbClr val="B8F7C2"/>
                </a:solidFill>
                <a:latin typeface="IBM Plex Mono" pitchFamily="34" charset="0"/>
                <a:ea typeface="IBM Plex Mono" pitchFamily="34" charset="-122"/>
                <a:cs typeface="IBM Plex Mono" pitchFamily="34" charset="-120"/>
              </a:rPr>
              <a:t>Econometric models like GARCH(1,1) assume linear decay, while Neural Networks learn complex non-linear crypto dynamics. Combining them into an Ensemble creates the most statistically accurate forecast, but statistically best does not always mean most profitable in execution.</a:t>
            </a:r>
            <a:endParaRPr lang="en-US" sz="1250" dirty="0"/>
          </a:p>
        </p:txBody>
      </p:sp>
      <p:sp>
        <p:nvSpPr>
          <p:cNvPr id="8" name="Text 5"/>
          <p:cNvSpPr/>
          <p:nvPr/>
        </p:nvSpPr>
        <p:spPr>
          <a:xfrm>
            <a:off x="247644" y="5032574"/>
            <a:ext cx="3863283" cy="644128"/>
          </a:xfrm>
          <a:prstGeom prst="rect">
            <a:avLst/>
          </a:prstGeom>
          <a:noFill/>
          <a:ln/>
        </p:spPr>
        <p:txBody>
          <a:bodyPr wrap="square" lIns="0" tIns="0" rIns="0" bIns="0" rtlCol="0" anchor="t">
            <a:normAutofit/>
          </a:bodyPr>
          <a:lstStyle/>
          <a:p>
            <a:pPr marL="0" indent="0" algn="l">
              <a:lnSpc>
                <a:spcPct val="104000"/>
              </a:lnSpc>
              <a:buNone/>
            </a:pPr>
            <a:r>
              <a:rPr lang="en-US" sz="2050" dirty="0">
                <a:solidFill>
                  <a:srgbClr val="D7FFE0"/>
                </a:solidFill>
                <a:latin typeface="IBM Plex Mono Medium" pitchFamily="34" charset="0"/>
                <a:ea typeface="IBM Plex Mono Medium" pitchFamily="34" charset="-122"/>
                <a:cs typeface="IBM Plex Mono Medium" pitchFamily="34" charset="-120"/>
              </a:rPr>
              <a:t>The "Ensemble Paradox" Unpacked</a:t>
            </a:r>
            <a:endParaRPr lang="en-US" sz="2050" dirty="0"/>
          </a:p>
        </p:txBody>
      </p:sp>
      <p:sp>
        <p:nvSpPr>
          <p:cNvPr id="9" name="Text 6"/>
          <p:cNvSpPr/>
          <p:nvPr/>
        </p:nvSpPr>
        <p:spPr>
          <a:xfrm>
            <a:off x="247644" y="5787787"/>
            <a:ext cx="3863283" cy="769541"/>
          </a:xfrm>
          <a:prstGeom prst="rect">
            <a:avLst/>
          </a:prstGeom>
          <a:noFill/>
          <a:ln/>
        </p:spPr>
        <p:txBody>
          <a:bodyPr wrap="square" lIns="0" tIns="0" rIns="0" bIns="0" rtlCol="0" anchor="t">
            <a:normAutofit lnSpcReduction="10000"/>
          </a:bodyPr>
          <a:lstStyle/>
          <a:p>
            <a:pPr marL="0" indent="0" algn="l">
              <a:lnSpc>
                <a:spcPct val="103000"/>
              </a:lnSpc>
              <a:buNone/>
            </a:pPr>
            <a:r>
              <a:rPr lang="en-US" sz="1250" dirty="0">
                <a:solidFill>
                  <a:srgbClr val="B8F7C2"/>
                </a:solidFill>
                <a:latin typeface="IBM Plex Mono" pitchFamily="34" charset="0"/>
                <a:ea typeface="IBM Plex Mono" pitchFamily="34" charset="-122"/>
                <a:cs typeface="IBM Plex Mono" pitchFamily="34" charset="-120"/>
              </a:rPr>
              <a:t>While the Ensemble model won every statistical metric, it generated lower net strategy returns in backtesting than the standalone Neural Network.</a:t>
            </a:r>
            <a:endParaRPr lang="en-US" sz="1250" dirty="0"/>
          </a:p>
        </p:txBody>
      </p:sp>
      <p:pic>
        <p:nvPicPr>
          <p:cNvPr id="10" name="Image 1" descr="preencoded.png"/>
          <p:cNvPicPr>
            <a:picLocks noChangeAspect="1"/>
          </p:cNvPicPr>
          <p:nvPr/>
        </p:nvPicPr>
        <p:blipFill>
          <a:blip r:embed="rId4"/>
          <a:stretch>
            <a:fillRect/>
          </a:stretch>
        </p:blipFill>
        <p:spPr>
          <a:xfrm>
            <a:off x="4656864" y="0"/>
            <a:ext cx="7528431" cy="6858000"/>
          </a:xfrm>
          <a:prstGeom prst="rect">
            <a:avLst/>
          </a:prstGeom>
        </p:spPr>
      </p:pic>
      <p:sp>
        <p:nvSpPr>
          <p:cNvPr id="11" name="Text 7"/>
          <p:cNvSpPr/>
          <p:nvPr/>
        </p:nvSpPr>
        <p:spPr>
          <a:xfrm>
            <a:off x="4910908" y="247650"/>
            <a:ext cx="7033144" cy="326827"/>
          </a:xfrm>
          <a:prstGeom prst="rect">
            <a:avLst/>
          </a:prstGeom>
          <a:noFill/>
          <a:ln/>
        </p:spPr>
        <p:txBody>
          <a:bodyPr wrap="square" lIns="101598" tIns="63498" rIns="101598" bIns="63498" rtlCol="0" anchor="t">
            <a:normAutofit/>
          </a:bodyPr>
          <a:lstStyle/>
          <a:p>
            <a:pPr marL="0" indent="0" algn="l">
              <a:lnSpc>
                <a:spcPct val="108000"/>
              </a:lnSpc>
              <a:buNone/>
            </a:pPr>
            <a:r>
              <a:rPr lang="en-US" sz="1050" kern="0" spc="42" dirty="0">
                <a:solidFill>
                  <a:srgbClr val="6AA978"/>
                </a:solidFill>
                <a:latin typeface="IBM Plex Mono" pitchFamily="34" charset="0"/>
                <a:ea typeface="IBM Plex Mono" pitchFamily="34" charset="-122"/>
                <a:cs typeface="IBM Plex Mono" pitchFamily="34" charset="-120"/>
              </a:rPr>
              <a:t>BENCHMARK.TABLE — /ACCURACY</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10908" y="701477"/>
          <a:ext cx="7033144" cy="3242786"/>
        </p:xfrm>
        <a:graphic>
          <a:graphicData uri="http://schemas.openxmlformats.org/drawingml/2006/table">
            <a:tbl>
              <a:tblPr/>
              <a:tblGrid>
                <a:gridCol w="3399353">
                  <a:extLst>
                    <a:ext uri="{9D8B030D-6E8A-4147-A177-3AD203B41FA5}">
                      <a16:colId xmlns:a16="http://schemas.microsoft.com/office/drawing/2014/main" val="20000"/>
                    </a:ext>
                  </a:extLst>
                </a:gridCol>
                <a:gridCol w="1875505">
                  <a:extLst>
                    <a:ext uri="{9D8B030D-6E8A-4147-A177-3AD203B41FA5}">
                      <a16:colId xmlns:a16="http://schemas.microsoft.com/office/drawing/2014/main" val="20001"/>
                    </a:ext>
                  </a:extLst>
                </a:gridCol>
                <a:gridCol w="1758286">
                  <a:extLst>
                    <a:ext uri="{9D8B030D-6E8A-4147-A177-3AD203B41FA5}">
                      <a16:colId xmlns:a16="http://schemas.microsoft.com/office/drawing/2014/main" val="20002"/>
                    </a:ext>
                  </a:extLst>
                </a:gridCol>
              </a:tblGrid>
              <a:tr h="1142178">
                <a:tc>
                  <a:txBody>
                    <a:bodyPr/>
                    <a:lstStyle/>
                    <a:p>
                      <a:pPr marL="0" indent="0" algn="l">
                        <a:buNone/>
                      </a:pPr>
                      <a:r>
                        <a:rPr lang="en-US" sz="1400" kern="0" spc="112" dirty="0">
                          <a:solidFill>
                            <a:srgbClr val="D7FFE0"/>
                          </a:solidFill>
                          <a:latin typeface="IBM Plex Mono" pitchFamily="34" charset="0"/>
                          <a:ea typeface="IBM Plex Mono" pitchFamily="34" charset="-122"/>
                          <a:cs typeface="IBM Plex Mono" pitchFamily="34" charset="-120"/>
                        </a:rPr>
                        <a:t>MODEL ARCHITECTURE</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kern="0" spc="112" dirty="0">
                          <a:solidFill>
                            <a:srgbClr val="D7FFE0"/>
                          </a:solidFill>
                          <a:latin typeface="IBM Plex Mono" pitchFamily="34" charset="0"/>
                          <a:ea typeface="IBM Plex Mono" pitchFamily="34" charset="-122"/>
                          <a:cs typeface="IBM Plex Mono" pitchFamily="34" charset="-120"/>
                        </a:rPr>
                        <a:t>MEAN QLIKE LOSS (LOWER = BETTER)</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kern="0" spc="112" dirty="0">
                          <a:solidFill>
                            <a:srgbClr val="D7FFE0"/>
                          </a:solidFill>
                          <a:latin typeface="IBM Plex Mono" pitchFamily="34" charset="0"/>
                          <a:ea typeface="IBM Plex Mono" pitchFamily="34" charset="-122"/>
                          <a:cs typeface="IBM Plex Mono" pitchFamily="34" charset="-120"/>
                        </a:rPr>
                        <a:t>VOLATILITY CORRELATION (HIGHER = BETTER)</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extLst>
                  <a:ext uri="{0D108BD9-81ED-4DB2-BD59-A6C34878D82A}">
                    <a16:rowId xmlns:a16="http://schemas.microsoft.com/office/drawing/2014/main" val="10000"/>
                  </a:ext>
                </a:extLst>
              </a:tr>
              <a:tr h="704436">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GARCH(1,1) Econometric Baseline</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0.661454</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0.6117</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extLst>
                  <a:ext uri="{0D108BD9-81ED-4DB2-BD59-A6C34878D82A}">
                    <a16:rowId xmlns:a16="http://schemas.microsoft.com/office/drawing/2014/main" val="10001"/>
                  </a:ext>
                </a:extLst>
              </a:tr>
              <a:tr h="704436">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Hybrid GAF-CNN-LSTM Neural Net</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0.642872</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0.6214</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extLst>
                  <a:ext uri="{0D108BD9-81ED-4DB2-BD59-A6C34878D82A}">
                    <a16:rowId xmlns:a16="http://schemas.microsoft.com/office/drawing/2014/main" val="10002"/>
                  </a:ext>
                </a:extLst>
              </a:tr>
              <a:tr h="691736">
                <a:tc>
                  <a:txBody>
                    <a:bodyPr/>
                    <a:lstStyle/>
                    <a:p>
                      <a:pPr marL="0" indent="0" algn="l">
                        <a:buNone/>
                      </a:pPr>
                      <a:r>
                        <a:rPr lang="en-US" sz="1400" dirty="0">
                          <a:solidFill>
                            <a:srgbClr val="B8F7C2"/>
                          </a:solidFill>
                          <a:latin typeface="IBM Plex Mono" pitchFamily="34" charset="0"/>
                          <a:ea typeface="IBM Plex Mono" pitchFamily="34" charset="-122"/>
                          <a:cs typeface="IBM Plex Mono" pitchFamily="34" charset="-120"/>
                        </a:rPr>
                        <a:t>Ensemble Model (50.7% NN + 49.3% GARCH)</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tcPr>
                </a:tc>
                <a:tc>
                  <a:txBody>
                    <a:bodyPr/>
                    <a:lstStyle/>
                    <a:p>
                      <a:pPr marL="0" indent="0" algn="l">
                        <a:buNone/>
                      </a:pPr>
                      <a:r>
                        <a:rPr lang="en-US" sz="1400" dirty="0">
                          <a:solidFill>
                            <a:srgbClr val="000000"/>
                          </a:solidFill>
                          <a:latin typeface="IBM Plex Mono" pitchFamily="34" charset="0"/>
                          <a:ea typeface="IBM Plex Mono" pitchFamily="34" charset="-122"/>
                          <a:cs typeface="IBM Plex Mono" pitchFamily="34" charset="-120"/>
                        </a:rPr>
                        <a:t>0.620735 (Winner)</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tc>
                  <a:txBody>
                    <a:bodyPr/>
                    <a:lstStyle/>
                    <a:p>
                      <a:pPr marL="0" indent="0" algn="l">
                        <a:buNone/>
                      </a:pPr>
                      <a:r>
                        <a:rPr lang="en-US" sz="1400" dirty="0">
                          <a:solidFill>
                            <a:srgbClr val="000000"/>
                          </a:solidFill>
                          <a:latin typeface="IBM Plex Mono" pitchFamily="34" charset="0"/>
                          <a:ea typeface="IBM Plex Mono" pitchFamily="34" charset="-122"/>
                          <a:cs typeface="IBM Plex Mono" pitchFamily="34" charset="-120"/>
                        </a:rPr>
                        <a:t>0.6506 (Winner)</a:t>
                      </a:r>
                      <a:endParaRPr lang="en-US" sz="140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extLst>
                  <a:ext uri="{0D108BD9-81ED-4DB2-BD59-A6C34878D82A}">
                    <a16:rowId xmlns:a16="http://schemas.microsoft.com/office/drawing/2014/main" val="10003"/>
                  </a:ext>
                </a:extLst>
              </a:tr>
            </a:tbl>
          </a:graphicData>
        </a:graphic>
      </p:graphicFrame>
      <p:sp>
        <p:nvSpPr>
          <p:cNvPr id="13" name="Text 8"/>
          <p:cNvSpPr/>
          <p:nvPr/>
        </p:nvSpPr>
        <p:spPr>
          <a:xfrm>
            <a:off x="4910908" y="5014218"/>
            <a:ext cx="3516522" cy="167779"/>
          </a:xfrm>
          <a:prstGeom prst="rect">
            <a:avLst/>
          </a:prstGeom>
          <a:noFill/>
          <a:ln/>
        </p:spPr>
        <p:txBody>
          <a:bodyPr wrap="none" lIns="0" tIns="0" rIns="0" bIns="0" rtlCol="0" anchor="t"/>
          <a:lstStyle/>
          <a:p>
            <a:pPr marL="0" indent="0" algn="l">
              <a:lnSpc>
                <a:spcPct val="104000"/>
              </a:lnSpc>
              <a:buNone/>
            </a:pPr>
            <a:r>
              <a:rPr lang="en-US" sz="1050" kern="0" spc="85" dirty="0">
                <a:solidFill>
                  <a:srgbClr val="6AA978"/>
                </a:solidFill>
                <a:latin typeface="IBM Plex Mono SemiBold" pitchFamily="34" charset="0"/>
                <a:ea typeface="IBM Plex Mono SemiBold" pitchFamily="34" charset="-122"/>
                <a:cs typeface="IBM Plex Mono SemiBold" pitchFamily="34" charset="-120"/>
              </a:rPr>
              <a:t>THE ROOT CAUSE</a:t>
            </a:r>
            <a:endParaRPr lang="en-US" sz="1050" dirty="0"/>
          </a:p>
        </p:txBody>
      </p:sp>
      <p:sp>
        <p:nvSpPr>
          <p:cNvPr id="14" name="Text 9"/>
          <p:cNvSpPr/>
          <p:nvPr/>
        </p:nvSpPr>
        <p:spPr>
          <a:xfrm>
            <a:off x="4910908" y="5263654"/>
            <a:ext cx="3326027" cy="961926"/>
          </a:xfrm>
          <a:prstGeom prst="rect">
            <a:avLst/>
          </a:prstGeom>
          <a:noFill/>
          <a:ln/>
        </p:spPr>
        <p:txBody>
          <a:bodyPr wrap="square" lIns="0" tIns="0" rIns="0" bIns="0" rtlCol="0" anchor="t">
            <a:normAutofit/>
          </a:bodyPr>
          <a:lstStyle/>
          <a:p>
            <a:pPr marL="0" indent="0" algn="l">
              <a:lnSpc>
                <a:spcPct val="103000"/>
              </a:lnSpc>
              <a:buNone/>
            </a:pPr>
            <a:r>
              <a:rPr lang="en-US" sz="1250" b="1" dirty="0">
                <a:solidFill>
                  <a:srgbClr val="B8F7C2"/>
                </a:solidFill>
                <a:latin typeface="IBM Plex Mono Bold" pitchFamily="34" charset="0"/>
                <a:ea typeface="IBM Plex Mono Bold" pitchFamily="34" charset="-122"/>
                <a:cs typeface="IBM Plex Mono Bold" pitchFamily="34" charset="-120"/>
              </a:rPr>
              <a:t>The Root Cause:</a:t>
            </a:r>
            <a:r>
              <a:rPr lang="en-US" sz="1250" dirty="0">
                <a:solidFill>
                  <a:srgbClr val="B8F7C2"/>
                </a:solidFill>
                <a:latin typeface="IBM Plex Mono" pitchFamily="34" charset="0"/>
                <a:ea typeface="IBM Plex Mono" pitchFamily="34" charset="-122"/>
                <a:cs typeface="IBM Plex Mono" pitchFamily="34" charset="-120"/>
              </a:rPr>
              <a:t> GARCH acted as a smoothing filter. While it lowered error metrics, it smoothed out the abrupt, sharp drops in volatility preceding real squeezes.</a:t>
            </a:r>
            <a:endParaRPr lang="en-US" sz="1250" dirty="0"/>
          </a:p>
        </p:txBody>
      </p:sp>
      <p:sp>
        <p:nvSpPr>
          <p:cNvPr id="15" name="Text 10"/>
          <p:cNvSpPr/>
          <p:nvPr/>
        </p:nvSpPr>
        <p:spPr>
          <a:xfrm>
            <a:off x="8617925" y="5014218"/>
            <a:ext cx="3326126" cy="167779"/>
          </a:xfrm>
          <a:prstGeom prst="rect">
            <a:avLst/>
          </a:prstGeom>
          <a:noFill/>
          <a:ln/>
        </p:spPr>
        <p:txBody>
          <a:bodyPr wrap="none" lIns="0" tIns="0" rIns="0" bIns="0" rtlCol="0" anchor="t"/>
          <a:lstStyle/>
          <a:p>
            <a:pPr marL="0" indent="0" algn="l">
              <a:lnSpc>
                <a:spcPct val="104000"/>
              </a:lnSpc>
              <a:buNone/>
            </a:pPr>
            <a:r>
              <a:rPr lang="en-US" sz="1050" kern="0" spc="85" dirty="0">
                <a:solidFill>
                  <a:srgbClr val="6AA978"/>
                </a:solidFill>
                <a:latin typeface="IBM Plex Mono SemiBold" pitchFamily="34" charset="0"/>
                <a:ea typeface="IBM Plex Mono SemiBold" pitchFamily="34" charset="-122"/>
                <a:cs typeface="IBM Plex Mono SemiBold" pitchFamily="34" charset="-120"/>
              </a:rPr>
              <a:t>EXECUTION IMPACT</a:t>
            </a:r>
            <a:endParaRPr lang="en-US" sz="1050" dirty="0"/>
          </a:p>
        </p:txBody>
      </p:sp>
      <p:sp>
        <p:nvSpPr>
          <p:cNvPr id="16" name="Text 11"/>
          <p:cNvSpPr/>
          <p:nvPr/>
        </p:nvSpPr>
        <p:spPr>
          <a:xfrm>
            <a:off x="8617925" y="5263654"/>
            <a:ext cx="3326126" cy="1273671"/>
          </a:xfrm>
          <a:prstGeom prst="rect">
            <a:avLst/>
          </a:prstGeom>
          <a:noFill/>
          <a:ln/>
        </p:spPr>
        <p:txBody>
          <a:bodyPr wrap="square" lIns="0" tIns="0" rIns="0" bIns="0" rtlCol="0" anchor="t">
            <a:normAutofit lnSpcReduction="10000"/>
          </a:bodyPr>
          <a:lstStyle/>
          <a:p>
            <a:pPr marL="0" indent="0" algn="l">
              <a:lnSpc>
                <a:spcPct val="103000"/>
              </a:lnSpc>
              <a:buNone/>
            </a:pPr>
            <a:r>
              <a:rPr lang="en-US" sz="1250" b="1" dirty="0">
                <a:solidFill>
                  <a:srgbClr val="B8F7C2"/>
                </a:solidFill>
                <a:latin typeface="IBM Plex Mono Bold" pitchFamily="34" charset="0"/>
                <a:ea typeface="IBM Plex Mono Bold" pitchFamily="34" charset="-122"/>
                <a:cs typeface="IBM Plex Mono Bold" pitchFamily="34" charset="-120"/>
              </a:rPr>
              <a:t>Execution Impact:</a:t>
            </a:r>
            <a:r>
              <a:rPr lang="en-US" sz="1250" dirty="0">
                <a:solidFill>
                  <a:srgbClr val="B8F7C2"/>
                </a:solidFill>
                <a:latin typeface="IBM Plex Mono" pitchFamily="34" charset="0"/>
                <a:ea typeface="IBM Plex Mono" pitchFamily="34" charset="-122"/>
                <a:cs typeface="IBM Plex Mono" pitchFamily="34" charset="-120"/>
              </a:rPr>
              <a:t> The Ensemble hesitated during sudden ETH compression breakdowns. The standalone Neural Network reacted instantly to raw compression signals, delivering higher net backtest profitability (+14.06%).</a:t>
            </a:r>
            <a:endParaRPr lang="en-US" sz="1250" dirty="0"/>
          </a:p>
        </p:txBody>
      </p:sp>
      <p:sp>
        <p:nvSpPr>
          <p:cNvPr id="17" name="Shape 12"/>
          <p:cNvSpPr/>
          <p:nvPr/>
        </p:nvSpPr>
        <p:spPr>
          <a:xfrm>
            <a:off x="8421080" y="5014218"/>
            <a:ext cx="12700" cy="1596132"/>
          </a:xfrm>
          <a:prstGeom prst="rect">
            <a:avLst/>
          </a:prstGeom>
          <a:solidFill>
            <a:srgbClr val="2E6D3F"/>
          </a:solidFill>
          <a:ln/>
        </p:spPr>
      </p:sp>
      <p:pic>
        <p:nvPicPr>
          <p:cNvPr id="19" name="Picture 18">
            <a:extLst>
              <a:ext uri="{FF2B5EF4-FFF2-40B4-BE49-F238E27FC236}">
                <a16:creationId xmlns:a16="http://schemas.microsoft.com/office/drawing/2014/main" id="{70AA0CB8-5BA1-0290-E643-E49EBEE342FF}"/>
              </a:ext>
            </a:extLst>
          </p:cNvPr>
          <p:cNvPicPr>
            <a:picLocks noChangeAspect="1"/>
          </p:cNvPicPr>
          <p:nvPr/>
        </p:nvPicPr>
        <p:blipFill>
          <a:blip r:embed="rId5"/>
          <a:stretch>
            <a:fillRect/>
          </a:stretch>
        </p:blipFill>
        <p:spPr>
          <a:xfrm>
            <a:off x="10813118" y="6588125"/>
            <a:ext cx="1272540" cy="1677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5399" y="25400"/>
            <a:ext cx="12140896" cy="567234"/>
          </a:xfrm>
          <a:prstGeom prst="rect">
            <a:avLst/>
          </a:prstGeom>
          <a:solidFill>
            <a:srgbClr val="17231C"/>
          </a:solidFill>
          <a:ln w="6350">
            <a:solidFill>
              <a:srgbClr val="2E6D3F"/>
            </a:solidFill>
            <a:prstDash val="solid"/>
          </a:ln>
        </p:spPr>
      </p:sp>
      <p:sp>
        <p:nvSpPr>
          <p:cNvPr id="3" name="Text 1"/>
          <p:cNvSpPr/>
          <p:nvPr/>
        </p:nvSpPr>
        <p:spPr>
          <a:xfrm>
            <a:off x="692133" y="590550"/>
            <a:ext cx="2171745"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EXECUTION.BACKTEST — /ETH/USDT</a:t>
            </a:r>
            <a:endParaRPr lang="en-US" sz="750" dirty="0"/>
          </a:p>
        </p:txBody>
      </p:sp>
      <p:sp>
        <p:nvSpPr>
          <p:cNvPr id="4" name="Text 2"/>
          <p:cNvSpPr/>
          <p:nvPr/>
        </p:nvSpPr>
        <p:spPr>
          <a:xfrm>
            <a:off x="10848604" y="590550"/>
            <a:ext cx="1108146"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 [□] [X]</a:t>
            </a:r>
            <a:endParaRPr lang="en-US" sz="750" dirty="0"/>
          </a:p>
        </p:txBody>
      </p:sp>
      <p:pic>
        <p:nvPicPr>
          <p:cNvPr id="5" name="Image 0" descr="preencoded.png"/>
          <p:cNvPicPr>
            <a:picLocks noChangeAspect="1"/>
          </p:cNvPicPr>
          <p:nvPr/>
        </p:nvPicPr>
        <p:blipFill>
          <a:blip r:embed="rId3"/>
          <a:stretch>
            <a:fillRect/>
          </a:stretch>
        </p:blipFill>
        <p:spPr>
          <a:xfrm>
            <a:off x="25399" y="592634"/>
            <a:ext cx="12140896" cy="5672634"/>
          </a:xfrm>
          <a:prstGeom prst="rect">
            <a:avLst/>
          </a:prstGeom>
        </p:spPr>
      </p:pic>
      <p:sp>
        <p:nvSpPr>
          <p:cNvPr id="6" name="Text 3"/>
          <p:cNvSpPr/>
          <p:nvPr/>
        </p:nvSpPr>
        <p:spPr>
          <a:xfrm>
            <a:off x="336542" y="776784"/>
            <a:ext cx="11518612" cy="295275"/>
          </a:xfrm>
          <a:prstGeom prst="rect">
            <a:avLst/>
          </a:prstGeom>
          <a:noFill/>
          <a:ln/>
        </p:spPr>
        <p:txBody>
          <a:bodyPr wrap="none" lIns="0" tIns="0" rIns="0" bIns="0" rtlCol="0" anchor="t"/>
          <a:lstStyle/>
          <a:p>
            <a:pPr marL="0" indent="0" algn="l">
              <a:lnSpc>
                <a:spcPct val="85000"/>
              </a:lnSpc>
              <a:buNone/>
            </a:pPr>
            <a:r>
              <a:rPr lang="en-US" sz="2300" kern="0" spc="-57" dirty="0">
                <a:solidFill>
                  <a:srgbClr val="B8F7C2"/>
                </a:solidFill>
                <a:latin typeface="IBM Plex Mono SemiBold" pitchFamily="34" charset="0"/>
                <a:ea typeface="IBM Plex Mono SemiBold" pitchFamily="34" charset="-122"/>
                <a:cs typeface="IBM Plex Mono SemiBold" pitchFamily="34" charset="-120"/>
              </a:rPr>
              <a:t>COMPARATIVE EXECUTION BACKTEST RESULTS (ETH/USDT)</a:t>
            </a:r>
            <a:endParaRPr lang="en-US" sz="2300" dirty="0"/>
          </a:p>
        </p:txBody>
      </p:sp>
      <p:sp>
        <p:nvSpPr>
          <p:cNvPr id="7" name="Text 4"/>
          <p:cNvSpPr/>
          <p:nvPr/>
        </p:nvSpPr>
        <p:spPr>
          <a:xfrm>
            <a:off x="336542" y="1158875"/>
            <a:ext cx="11829754" cy="118467"/>
          </a:xfrm>
          <a:prstGeom prst="rect">
            <a:avLst/>
          </a:prstGeom>
          <a:noFill/>
          <a:ln/>
        </p:spPr>
        <p:txBody>
          <a:bodyPr wrap="none" lIns="0" tIns="0" rIns="0" bIns="0" rtlCol="0" anchor="t"/>
          <a:lstStyle/>
          <a:p>
            <a:pPr marL="0" indent="0" algn="l">
              <a:lnSpc>
                <a:spcPct val="89000"/>
              </a:lnSpc>
              <a:buNone/>
            </a:pPr>
            <a:r>
              <a:rPr lang="en-US" sz="850" b="1" dirty="0">
                <a:solidFill>
                  <a:srgbClr val="B8F7C2"/>
                </a:solidFill>
                <a:latin typeface="IBM Plex Mono Bold" pitchFamily="34" charset="0"/>
                <a:ea typeface="IBM Plex Mono Bold" pitchFamily="34" charset="-122"/>
                <a:cs typeface="IBM Plex Mono Bold" pitchFamily="34" charset="-120"/>
              </a:rPr>
              <a:t>Evaluating Fee Drag, Slippage, and Sizing Mechanics Across 3 Strategy Variants</a:t>
            </a:r>
            <a:endParaRPr lang="en-US" sz="850" dirty="0"/>
          </a:p>
        </p:txBody>
      </p:sp>
      <p:sp>
        <p:nvSpPr>
          <p:cNvPr id="8" name="Text 5"/>
          <p:cNvSpPr/>
          <p:nvPr/>
        </p:nvSpPr>
        <p:spPr>
          <a:xfrm>
            <a:off x="336542" y="1398488"/>
            <a:ext cx="11518612" cy="228501"/>
          </a:xfrm>
          <a:prstGeom prst="rect">
            <a:avLst/>
          </a:prstGeom>
          <a:noFill/>
          <a:ln/>
        </p:spPr>
        <p:txBody>
          <a:bodyPr wrap="none" lIns="0" tIns="0" rIns="0" bIns="0" rtlCol="0" anchor="t"/>
          <a:lstStyle/>
          <a:p>
            <a:pPr marL="0" indent="0" algn="l">
              <a:lnSpc>
                <a:spcPct val="104000"/>
              </a:lnSpc>
              <a:buNone/>
            </a:pPr>
            <a:r>
              <a:rPr lang="en-US" sz="1450" dirty="0">
                <a:solidFill>
                  <a:srgbClr val="B8F7C2"/>
                </a:solidFill>
                <a:latin typeface="IBM Plex Mono Medium" pitchFamily="34" charset="0"/>
                <a:ea typeface="IBM Plex Mono Medium" pitchFamily="34" charset="-122"/>
                <a:cs typeface="IBM Plex Mono Medium" pitchFamily="34" charset="-120"/>
              </a:rPr>
              <a:t>Mechanics of the 3 Strategy Variants</a:t>
            </a:r>
            <a:endParaRPr lang="en-US" sz="1450" dirty="0"/>
          </a:p>
        </p:txBody>
      </p:sp>
      <p:sp>
        <p:nvSpPr>
          <p:cNvPr id="9" name="Text 6"/>
          <p:cNvSpPr/>
          <p:nvPr/>
        </p:nvSpPr>
        <p:spPr>
          <a:xfrm>
            <a:off x="336542" y="1678384"/>
            <a:ext cx="4111721" cy="180876"/>
          </a:xfrm>
          <a:prstGeom prst="rect">
            <a:avLst/>
          </a:prstGeom>
          <a:noFill/>
          <a:ln/>
        </p:spPr>
        <p:txBody>
          <a:bodyPr wrap="none" lIns="0" tIns="0" rIns="0" bIns="0" rtlCol="0" anchor="t"/>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Strategy 1 (Clean Taker):</a:t>
            </a:r>
            <a:endParaRPr lang="en-US" sz="1150" dirty="0"/>
          </a:p>
        </p:txBody>
      </p:sp>
      <p:sp>
        <p:nvSpPr>
          <p:cNvPr id="10" name="Text 7"/>
          <p:cNvSpPr/>
          <p:nvPr/>
        </p:nvSpPr>
        <p:spPr>
          <a:xfrm>
            <a:off x="336542" y="1910655"/>
            <a:ext cx="4111721" cy="236934"/>
          </a:xfrm>
          <a:prstGeom prst="rect">
            <a:avLst/>
          </a:prstGeom>
          <a:noFill/>
          <a:ln/>
        </p:spPr>
        <p:txBody>
          <a:bodyPr wrap="square" lIns="0" tIns="0" rIns="0" bIns="0" rtlCol="0" anchor="t">
            <a:normAutofit/>
          </a:bodyPr>
          <a:lstStyle/>
          <a:p>
            <a:pPr marL="0" indent="0" algn="l">
              <a:lnSpc>
                <a:spcPct val="89000"/>
              </a:lnSpc>
              <a:buNone/>
            </a:pPr>
            <a:r>
              <a:rPr lang="en-US" sz="850" dirty="0">
                <a:solidFill>
                  <a:srgbClr val="B8F7C2"/>
                </a:solidFill>
                <a:latin typeface="IBM Plex Mono" pitchFamily="34" charset="0"/>
                <a:ea typeface="IBM Plex Mono" pitchFamily="34" charset="-122"/>
                <a:cs typeface="IBM Plex Mono" pitchFamily="34" charset="-120"/>
              </a:rPr>
              <a:t>Uses Market Taker orders to guarantee instant entry when a breakout occurs.</a:t>
            </a:r>
            <a:endParaRPr lang="en-US" sz="850" dirty="0"/>
          </a:p>
        </p:txBody>
      </p:sp>
      <p:sp>
        <p:nvSpPr>
          <p:cNvPr id="11" name="Text 8"/>
          <p:cNvSpPr/>
          <p:nvPr/>
        </p:nvSpPr>
        <p:spPr>
          <a:xfrm>
            <a:off x="336542" y="2719090"/>
            <a:ext cx="4111721" cy="180876"/>
          </a:xfrm>
          <a:prstGeom prst="rect">
            <a:avLst/>
          </a:prstGeom>
          <a:noFill/>
          <a:ln/>
        </p:spPr>
        <p:txBody>
          <a:bodyPr wrap="none" lIns="0" tIns="0" rIns="0" bIns="0" rtlCol="0" anchor="t"/>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Strategy 2 (Post-Maker):</a:t>
            </a:r>
            <a:endParaRPr lang="en-US" sz="1150" dirty="0"/>
          </a:p>
        </p:txBody>
      </p:sp>
      <p:sp>
        <p:nvSpPr>
          <p:cNvPr id="12" name="Text 9"/>
          <p:cNvSpPr/>
          <p:nvPr/>
        </p:nvSpPr>
        <p:spPr>
          <a:xfrm>
            <a:off x="336542" y="2951361"/>
            <a:ext cx="4111721" cy="236934"/>
          </a:xfrm>
          <a:prstGeom prst="rect">
            <a:avLst/>
          </a:prstGeom>
          <a:noFill/>
          <a:ln/>
        </p:spPr>
        <p:txBody>
          <a:bodyPr wrap="square" lIns="0" tIns="0" rIns="0" bIns="0" rtlCol="0" anchor="t">
            <a:normAutofit/>
          </a:bodyPr>
          <a:lstStyle/>
          <a:p>
            <a:pPr marL="0" indent="0" algn="l">
              <a:lnSpc>
                <a:spcPct val="89000"/>
              </a:lnSpc>
              <a:buNone/>
            </a:pPr>
            <a:r>
              <a:rPr lang="en-US" sz="850" dirty="0">
                <a:solidFill>
                  <a:srgbClr val="B8F7C2"/>
                </a:solidFill>
                <a:latin typeface="IBM Plex Mono" pitchFamily="34" charset="0"/>
                <a:ea typeface="IBM Plex Mono" pitchFamily="34" charset="-122"/>
                <a:cs typeface="IBM Plex Mono" pitchFamily="34" charset="-120"/>
              </a:rPr>
              <a:t>Uses Limit Maker orders to post resting bids and save on exchange fees.</a:t>
            </a:r>
            <a:endParaRPr lang="en-US" sz="850" dirty="0"/>
          </a:p>
        </p:txBody>
      </p:sp>
      <p:sp>
        <p:nvSpPr>
          <p:cNvPr id="13" name="Text 10"/>
          <p:cNvSpPr/>
          <p:nvPr/>
        </p:nvSpPr>
        <p:spPr>
          <a:xfrm>
            <a:off x="336542" y="3569295"/>
            <a:ext cx="4111721" cy="180876"/>
          </a:xfrm>
          <a:prstGeom prst="rect">
            <a:avLst/>
          </a:prstGeom>
          <a:noFill/>
          <a:ln/>
        </p:spPr>
        <p:txBody>
          <a:bodyPr wrap="none" lIns="0" tIns="0" rIns="0" bIns="0" rtlCol="0" anchor="t"/>
          <a:lstStyle/>
          <a:p>
            <a:pPr marL="0" indent="0" algn="l">
              <a:lnSpc>
                <a:spcPct val="104000"/>
              </a:lnSpc>
              <a:buNone/>
            </a:pPr>
            <a:r>
              <a:rPr lang="en-US" sz="1150" dirty="0">
                <a:solidFill>
                  <a:srgbClr val="B8F7C2"/>
                </a:solidFill>
                <a:latin typeface="IBM Plex Mono Medium" pitchFamily="34" charset="0"/>
                <a:ea typeface="IBM Plex Mono Medium" pitchFamily="34" charset="-122"/>
                <a:cs typeface="IBM Plex Mono Medium" pitchFamily="34" charset="-120"/>
              </a:rPr>
              <a:t>Strategy 3 (Stabilized Anti-Chop):</a:t>
            </a:r>
            <a:endParaRPr lang="en-US" sz="1150" dirty="0"/>
          </a:p>
        </p:txBody>
      </p:sp>
      <p:sp>
        <p:nvSpPr>
          <p:cNvPr id="14" name="Text 11"/>
          <p:cNvSpPr/>
          <p:nvPr/>
        </p:nvSpPr>
        <p:spPr>
          <a:xfrm>
            <a:off x="336542" y="3801566"/>
            <a:ext cx="4111721" cy="236934"/>
          </a:xfrm>
          <a:prstGeom prst="rect">
            <a:avLst/>
          </a:prstGeom>
          <a:noFill/>
          <a:ln/>
        </p:spPr>
        <p:txBody>
          <a:bodyPr wrap="square" lIns="0" tIns="0" rIns="0" bIns="0" rtlCol="0" anchor="t">
            <a:normAutofit/>
          </a:bodyPr>
          <a:lstStyle/>
          <a:p>
            <a:pPr marL="0" indent="0" algn="l">
              <a:lnSpc>
                <a:spcPct val="89000"/>
              </a:lnSpc>
              <a:buNone/>
            </a:pPr>
            <a:r>
              <a:rPr lang="en-US" sz="850" dirty="0">
                <a:solidFill>
                  <a:srgbClr val="B8F7C2"/>
                </a:solidFill>
                <a:latin typeface="IBM Plex Mono" pitchFamily="34" charset="0"/>
                <a:ea typeface="IBM Plex Mono" pitchFamily="34" charset="-122"/>
                <a:cs typeface="IBM Plex Mono" pitchFamily="34" charset="-120"/>
              </a:rPr>
              <a:t>Dynamically halves position size after a losing trade to suppress drawdown during choppy markets.</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752955" y="1678384"/>
          <a:ext cx="7102197" cy="3970258"/>
        </p:xfrm>
        <a:graphic>
          <a:graphicData uri="http://schemas.openxmlformats.org/drawingml/2006/table">
            <a:tbl>
              <a:tblPr/>
              <a:tblGrid>
                <a:gridCol w="2367399">
                  <a:extLst>
                    <a:ext uri="{9D8B030D-6E8A-4147-A177-3AD203B41FA5}">
                      <a16:colId xmlns:a16="http://schemas.microsoft.com/office/drawing/2014/main" val="20000"/>
                    </a:ext>
                  </a:extLst>
                </a:gridCol>
                <a:gridCol w="1578266">
                  <a:extLst>
                    <a:ext uri="{9D8B030D-6E8A-4147-A177-3AD203B41FA5}">
                      <a16:colId xmlns:a16="http://schemas.microsoft.com/office/drawing/2014/main" val="20001"/>
                    </a:ext>
                  </a:extLst>
                </a:gridCol>
                <a:gridCol w="1578266">
                  <a:extLst>
                    <a:ext uri="{9D8B030D-6E8A-4147-A177-3AD203B41FA5}">
                      <a16:colId xmlns:a16="http://schemas.microsoft.com/office/drawing/2014/main" val="20002"/>
                    </a:ext>
                  </a:extLst>
                </a:gridCol>
                <a:gridCol w="1578266">
                  <a:extLst>
                    <a:ext uri="{9D8B030D-6E8A-4147-A177-3AD203B41FA5}">
                      <a16:colId xmlns:a16="http://schemas.microsoft.com/office/drawing/2014/main" val="20003"/>
                    </a:ext>
                  </a:extLst>
                </a:gridCol>
              </a:tblGrid>
              <a:tr h="622086">
                <a:tc>
                  <a:txBody>
                    <a:bodyPr/>
                    <a:lstStyle/>
                    <a:p>
                      <a:pPr marL="0" indent="0" algn="l">
                        <a:buNone/>
                      </a:pPr>
                      <a:r>
                        <a:rPr lang="en-US" sz="850" kern="0" spc="79" dirty="0">
                          <a:solidFill>
                            <a:srgbClr val="B8F7C2"/>
                          </a:solidFill>
                          <a:latin typeface="IBM Plex Mono" pitchFamily="34" charset="0"/>
                          <a:ea typeface="IBM Plex Mono" pitchFamily="34" charset="-122"/>
                          <a:cs typeface="IBM Plex Mono" pitchFamily="34" charset="-120"/>
                        </a:rPr>
                        <a:t>PERFORMANCE METRIC</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kern="0" spc="79" dirty="0">
                          <a:solidFill>
                            <a:srgbClr val="000000"/>
                          </a:solidFill>
                          <a:latin typeface="IBM Plex Mono" pitchFamily="34" charset="0"/>
                          <a:ea typeface="IBM Plex Mono" pitchFamily="34" charset="-122"/>
                          <a:cs typeface="IBM Plex Mono" pitchFamily="34" charset="-120"/>
                        </a:rPr>
                        <a:t>STRATEGY 1: CLEAN TAKER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tc>
                  <a:txBody>
                    <a:bodyPr/>
                    <a:lstStyle/>
                    <a:p>
                      <a:pPr marL="0" indent="0" algn="l">
                        <a:buNone/>
                      </a:pPr>
                      <a:r>
                        <a:rPr lang="en-US" sz="850" kern="0" spc="79" dirty="0">
                          <a:solidFill>
                            <a:srgbClr val="B8F7C2"/>
                          </a:solidFill>
                          <a:latin typeface="IBM Plex Mono" pitchFamily="34" charset="0"/>
                          <a:ea typeface="IBM Plex Mono" pitchFamily="34" charset="-122"/>
                          <a:cs typeface="IBM Plex Mono" pitchFamily="34" charset="-120"/>
                        </a:rPr>
                        <a:t>STRATEGY 2: POST-MAKER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kern="0" spc="79" dirty="0">
                          <a:solidFill>
                            <a:srgbClr val="B8F7C2"/>
                          </a:solidFill>
                          <a:latin typeface="IBM Plex Mono" pitchFamily="34" charset="0"/>
                          <a:ea typeface="IBM Plex Mono" pitchFamily="34" charset="-122"/>
                          <a:cs typeface="IBM Plex Mono" pitchFamily="34" charset="-120"/>
                        </a:rPr>
                        <a:t>STRATEGY 3: STABILIZED ANTI-CHOP</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0"/>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Total Net Return</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+14.06%</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+12.86%</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+5.43%</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1"/>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Max Drawdown</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-10.00%</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-7.94%</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-3.95%</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2"/>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Sharpe Ratio</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1.55</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1.76</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1.04</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3"/>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Profit Factor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1.08</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1.11</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1.09</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4"/>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Win Rate (%)</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42.4%</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43.2%</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38.6%</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5"/>
                  </a:ext>
                </a:extLst>
              </a:tr>
              <a:tr h="385158">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Total Trades</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66</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44</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44</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6"/>
                  </a:ext>
                </a:extLst>
              </a:tr>
              <a:tr h="503622">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Total Exchange Fees Paid</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8.22% (0.05% Taker)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2.23% (0.02% Maker)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3.85% (0.05% Taker)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7"/>
                  </a:ext>
                </a:extLst>
              </a:tr>
              <a:tr h="490922">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Primary Execution Mode</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Guaranteed Market Orders</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Passive Limit Orders</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tc>
                  <a:txBody>
                    <a:bodyPr/>
                    <a:lstStyle/>
                    <a:p>
                      <a:pPr marL="0" indent="0" algn="l">
                        <a:buNone/>
                      </a:pPr>
                      <a:r>
                        <a:rPr lang="en-US" sz="850" dirty="0">
                          <a:solidFill>
                            <a:srgbClr val="B8F7C2"/>
                          </a:solidFill>
                          <a:latin typeface="IBM Plex Mono" pitchFamily="34" charset="0"/>
                          <a:ea typeface="IBM Plex Mono" pitchFamily="34" charset="-122"/>
                          <a:cs typeface="IBM Plex Mono" pitchFamily="34" charset="-120"/>
                        </a:rPr>
                        <a:t>Dynamic Sizing &amp; Stall Timer</a:t>
                      </a:r>
                      <a:endParaRPr lang="en-US" sz="850" dirty="0">
                        <a:latin typeface="IBM Plex Mono" charset="0"/>
                        <a:ea typeface="IBM Plex Mono" charset="0"/>
                        <a:cs typeface="IBM Plex Mono" charset="0"/>
                      </a:endParaRPr>
                    </a:p>
                  </a:txBody>
                  <a:tcPr marL="152396" marR="152396" marT="126997" marB="126997" anchor="ctr">
                    <a:lnL w="12700" cap="flat" cmpd="sng" algn="ctr">
                      <a:solidFill>
                        <a:srgbClr val="2E6D3F"/>
                      </a:solidFill>
                      <a:prstDash val="solid"/>
                      <a:round/>
                      <a:headEnd type="none" w="med" len="med"/>
                      <a:tailEnd type="none" w="med" len="med"/>
                    </a:lnL>
                    <a:lnR w="12700" cap="flat" cmpd="sng" algn="ctr">
                      <a:solidFill>
                        <a:srgbClr val="2E6D3F"/>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07110C"/>
                    </a:solidFill>
                  </a:tcPr>
                </a:tc>
                <a:extLst>
                  <a:ext uri="{0D108BD9-81ED-4DB2-BD59-A6C34878D82A}">
                    <a16:rowId xmlns:a16="http://schemas.microsoft.com/office/drawing/2014/main" val="10008"/>
                  </a:ext>
                </a:extLst>
              </a:tr>
            </a:tbl>
          </a:graphicData>
        </a:graphic>
      </p:graphicFrame>
      <p:pic>
        <p:nvPicPr>
          <p:cNvPr id="16" name="Image 1" descr="preencoded.png"/>
          <p:cNvPicPr>
            <a:picLocks noChangeAspect="1"/>
          </p:cNvPicPr>
          <p:nvPr/>
        </p:nvPicPr>
        <p:blipFill>
          <a:blip r:embed="rId4"/>
          <a:stretch>
            <a:fillRect/>
          </a:stretch>
        </p:blipFill>
        <p:spPr>
          <a:xfrm>
            <a:off x="25399" y="6265267"/>
            <a:ext cx="12140896" cy="567234"/>
          </a:xfrm>
          <a:prstGeom prst="rect">
            <a:avLst/>
          </a:prstGeom>
        </p:spPr>
      </p:pic>
      <p:sp>
        <p:nvSpPr>
          <p:cNvPr id="17" name="Text 12"/>
          <p:cNvSpPr/>
          <p:nvPr/>
        </p:nvSpPr>
        <p:spPr>
          <a:xfrm>
            <a:off x="692133" y="6830417"/>
            <a:ext cx="1371665" cy="123825"/>
          </a:xfrm>
          <a:prstGeom prst="rect">
            <a:avLst/>
          </a:prstGeom>
          <a:noFill/>
          <a:ln/>
        </p:spPr>
        <p:txBody>
          <a:bodyPr wrap="none" lIns="0" tIns="0" rIns="0" bIns="0" rtlCol="0" anchor="t"/>
          <a:lstStyle/>
          <a:p>
            <a:pPr marL="0" indent="0" algn="l">
              <a:lnSpc>
                <a:spcPct val="108000"/>
              </a:lnSpc>
              <a:buNone/>
            </a:pPr>
            <a:r>
              <a:rPr lang="en-US" sz="750" dirty="0">
                <a:solidFill>
                  <a:srgbClr val="FFFFFF"/>
                </a:solidFill>
                <a:latin typeface="IBM Plex Mono" pitchFamily="34" charset="0"/>
                <a:ea typeface="IBM Plex Mono" pitchFamily="34" charset="-122"/>
                <a:cs typeface="IBM Plex Mono" pitchFamily="34" charset="-120"/>
              </a:rPr>
              <a:t>MODE: COMPARISON</a:t>
            </a:r>
            <a:endParaRPr lang="en-US" sz="750" dirty="0"/>
          </a:p>
        </p:txBody>
      </p:sp>
      <p:sp>
        <p:nvSpPr>
          <p:cNvPr id="18" name="Text 13"/>
          <p:cNvSpPr/>
          <p:nvPr/>
        </p:nvSpPr>
        <p:spPr>
          <a:xfrm>
            <a:off x="11042275" y="6830417"/>
            <a:ext cx="914476" cy="123825"/>
          </a:xfrm>
          <a:prstGeom prst="rect">
            <a:avLst/>
          </a:prstGeom>
          <a:noFill/>
          <a:ln/>
        </p:spPr>
        <p:txBody>
          <a:bodyPr wrap="none" lIns="0" tIns="0" rIns="0" bIns="0" rtlCol="0" anchor="t"/>
          <a:lstStyle/>
          <a:p>
            <a:pPr marL="0" indent="0" algn="l">
              <a:lnSpc>
                <a:spcPct val="108000"/>
              </a:lnSpc>
              <a:buNone/>
            </a:pPr>
            <a:endParaRPr lang="en-US" sz="750" dirty="0"/>
          </a:p>
        </p:txBody>
      </p:sp>
      <p:sp>
        <p:nvSpPr>
          <p:cNvPr id="19" name="Shape 14"/>
          <p:cNvSpPr/>
          <p:nvPr/>
        </p:nvSpPr>
        <p:spPr>
          <a:xfrm>
            <a:off x="336542" y="2522240"/>
            <a:ext cx="4111721" cy="12700"/>
          </a:xfrm>
          <a:prstGeom prst="rect">
            <a:avLst/>
          </a:prstGeom>
          <a:solidFill>
            <a:srgbClr val="2E6D3F"/>
          </a:solidFill>
          <a:ln/>
        </p:spPr>
      </p:sp>
      <p:sp>
        <p:nvSpPr>
          <p:cNvPr id="20" name="Shape 15"/>
          <p:cNvSpPr/>
          <p:nvPr/>
        </p:nvSpPr>
        <p:spPr>
          <a:xfrm>
            <a:off x="336542" y="3372445"/>
            <a:ext cx="4111721" cy="12700"/>
          </a:xfrm>
          <a:prstGeom prst="rect">
            <a:avLst/>
          </a:prstGeom>
          <a:solidFill>
            <a:srgbClr val="2E6D3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5399" y="25400"/>
            <a:ext cx="8093865" cy="6807200"/>
          </a:xfrm>
          <a:prstGeom prst="rect">
            <a:avLst/>
          </a:prstGeom>
        </p:spPr>
      </p:pic>
      <p:sp>
        <p:nvSpPr>
          <p:cNvPr id="3" name="Text 0"/>
          <p:cNvSpPr/>
          <p:nvPr/>
        </p:nvSpPr>
        <p:spPr>
          <a:xfrm>
            <a:off x="203195" y="203200"/>
            <a:ext cx="7738274" cy="284956"/>
          </a:xfrm>
          <a:prstGeom prst="rect">
            <a:avLst/>
          </a:prstGeom>
          <a:noFill/>
          <a:ln/>
        </p:spPr>
        <p:txBody>
          <a:bodyPr wrap="none" lIns="0" tIns="0" rIns="0" bIns="0" rtlCol="0" anchor="t"/>
          <a:lstStyle/>
          <a:p>
            <a:pPr marL="0" indent="0" algn="l">
              <a:lnSpc>
                <a:spcPct val="85000"/>
              </a:lnSpc>
              <a:buNone/>
            </a:pPr>
            <a:r>
              <a:rPr lang="en-US" sz="2200" kern="0" spc="-55" dirty="0">
                <a:solidFill>
                  <a:srgbClr val="B8F7C2"/>
                </a:solidFill>
                <a:latin typeface="IBM Plex Mono SemiBold" pitchFamily="34" charset="0"/>
                <a:ea typeface="IBM Plex Mono SemiBold" pitchFamily="34" charset="-122"/>
                <a:cs typeface="IBM Plex Mono SemiBold" pitchFamily="34" charset="-120"/>
              </a:rPr>
              <a:t>MICROSTRUCTURE INSIGHTS &amp; PRODUCTION BLUEPRINT</a:t>
            </a:r>
            <a:endParaRPr lang="en-US" sz="2200" dirty="0"/>
          </a:p>
        </p:txBody>
      </p:sp>
      <p:sp>
        <p:nvSpPr>
          <p:cNvPr id="4" name="Text 1"/>
          <p:cNvSpPr/>
          <p:nvPr/>
        </p:nvSpPr>
        <p:spPr>
          <a:xfrm>
            <a:off x="203195" y="685006"/>
            <a:ext cx="7738274" cy="544513"/>
          </a:xfrm>
          <a:prstGeom prst="rect">
            <a:avLst/>
          </a:prstGeom>
          <a:noFill/>
          <a:ln/>
        </p:spPr>
        <p:txBody>
          <a:bodyPr wrap="square" lIns="0" tIns="0" rIns="0" bIns="0" rtlCol="0" anchor="t">
            <a:normAutofit/>
          </a:bodyPr>
          <a:lstStyle/>
          <a:p>
            <a:pPr marL="0" indent="0" algn="l">
              <a:lnSpc>
                <a:spcPct val="112000"/>
              </a:lnSpc>
              <a:buNone/>
            </a:pPr>
            <a:r>
              <a:rPr lang="en-US" sz="1600" b="1" dirty="0">
                <a:solidFill>
                  <a:srgbClr val="B8F7C2"/>
                </a:solidFill>
                <a:latin typeface="IBM Plex Mono Bold" pitchFamily="34" charset="0"/>
                <a:ea typeface="IBM Plex Mono Bold" pitchFamily="34" charset="-122"/>
                <a:cs typeface="IBM Plex Mono Bold" pitchFamily="34" charset="-120"/>
              </a:rPr>
              <a:t>Final Live Deployment Directive &amp; Real-World Execution Realities</a:t>
            </a:r>
            <a:endParaRPr lang="en-US" sz="1600" dirty="0"/>
          </a:p>
        </p:txBody>
      </p:sp>
      <p:sp>
        <p:nvSpPr>
          <p:cNvPr id="5" name="Text 2"/>
          <p:cNvSpPr/>
          <p:nvPr/>
        </p:nvSpPr>
        <p:spPr>
          <a:xfrm>
            <a:off x="203195" y="1566069"/>
            <a:ext cx="7738274" cy="269875"/>
          </a:xfrm>
          <a:prstGeom prst="rect">
            <a:avLst/>
          </a:prstGeom>
          <a:noFill/>
          <a:ln/>
        </p:spPr>
        <p:txBody>
          <a:bodyPr wrap="none" lIns="0" tIns="0" rIns="0" bIns="0" rtlCol="0" anchor="t"/>
          <a:lstStyle/>
          <a:p>
            <a:pPr marL="0" indent="0" algn="l">
              <a:lnSpc>
                <a:spcPct val="104000"/>
              </a:lnSpc>
              <a:buNone/>
            </a:pPr>
            <a:r>
              <a:rPr lang="en-US" sz="1700" dirty="0">
                <a:solidFill>
                  <a:srgbClr val="B8F7C2"/>
                </a:solidFill>
                <a:latin typeface="IBM Plex Mono Medium" pitchFamily="34" charset="0"/>
                <a:ea typeface="IBM Plex Mono Medium" pitchFamily="34" charset="-122"/>
                <a:cs typeface="IBM Plex Mono Medium" pitchFamily="34" charset="-120"/>
              </a:rPr>
              <a:t>Why Complex Execution Mechanics Failed on ETH/USDT</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03195" y="1978819"/>
          <a:ext cx="7738273" cy="4503027"/>
        </p:xfrm>
        <a:graphic>
          <a:graphicData uri="http://schemas.openxmlformats.org/drawingml/2006/table">
            <a:tbl>
              <a:tblPr/>
              <a:tblGrid>
                <a:gridCol w="2244099">
                  <a:extLst>
                    <a:ext uri="{9D8B030D-6E8A-4147-A177-3AD203B41FA5}">
                      <a16:colId xmlns:a16="http://schemas.microsoft.com/office/drawing/2014/main" val="20000"/>
                    </a:ext>
                  </a:extLst>
                </a:gridCol>
                <a:gridCol w="5494174">
                  <a:extLst>
                    <a:ext uri="{9D8B030D-6E8A-4147-A177-3AD203B41FA5}">
                      <a16:colId xmlns:a16="http://schemas.microsoft.com/office/drawing/2014/main" val="20001"/>
                    </a:ext>
                  </a:extLst>
                </a:gridCol>
              </a:tblGrid>
              <a:tr h="1747794">
                <a:tc>
                  <a:txBody>
                    <a:bodyPr/>
                    <a:lstStyle/>
                    <a:p>
                      <a:pPr marL="0" indent="0" algn="l">
                        <a:buNone/>
                      </a:pPr>
                      <a:r>
                        <a:rPr lang="en-US" sz="1600" b="1" dirty="0">
                          <a:solidFill>
                            <a:srgbClr val="B8F7C2"/>
                          </a:solidFill>
                          <a:latin typeface="IBM Plex Mono" pitchFamily="34" charset="0"/>
                          <a:ea typeface="IBM Plex Mono" pitchFamily="34" charset="-122"/>
                          <a:cs typeface="IBM Plex Mono" pitchFamily="34" charset="-120"/>
                        </a:rPr>
                        <a:t>The Limit Order Trap (Strategy 2 Rejected):</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1600" dirty="0">
                          <a:solidFill>
                            <a:srgbClr val="B8F7C2"/>
                          </a:solidFill>
                          <a:latin typeface="IBM Plex Mono" pitchFamily="34" charset="0"/>
                          <a:ea typeface="IBM Plex Mono" pitchFamily="34" charset="-122"/>
                          <a:cs typeface="IBM Plex Mono" pitchFamily="34" charset="-120"/>
                        </a:rPr>
                        <a:t>Passive limit orders suffer from severe adverse selection during crypto breakouts. True winning breakouts gap up instantly without filling limit orders, while false breakouts dump directly into resting bids, filling losers and missing runners.</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0"/>
                  </a:ext>
                </a:extLst>
              </a:tr>
              <a:tr h="1475544">
                <a:tc>
                  <a:txBody>
                    <a:bodyPr/>
                    <a:lstStyle/>
                    <a:p>
                      <a:pPr marL="0" indent="0" algn="l">
                        <a:buNone/>
                      </a:pPr>
                      <a:r>
                        <a:rPr lang="en-US" sz="1600" b="1" dirty="0">
                          <a:solidFill>
                            <a:srgbClr val="B8F7C2"/>
                          </a:solidFill>
                          <a:latin typeface="IBM Plex Mono" pitchFamily="34" charset="0"/>
                          <a:ea typeface="IBM Plex Mono" pitchFamily="34" charset="-122"/>
                          <a:cs typeface="IBM Plex Mono" pitchFamily="34" charset="-120"/>
                        </a:rPr>
                        <a:t>The Expectancy Trap (Strategy 3 Rejected):</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1600" dirty="0">
                          <a:solidFill>
                            <a:srgbClr val="B8F7C2"/>
                          </a:solidFill>
                          <a:latin typeface="IBM Plex Mono" pitchFamily="34" charset="0"/>
                          <a:ea typeface="IBM Plex Mono" pitchFamily="34" charset="-122"/>
                          <a:cs typeface="IBM Plex Mono" pitchFamily="34" charset="-120"/>
                        </a:rPr>
                        <a:t>Halving position sizes after a loss destroys the trade distribution expectancy. Taking full losses on false breakouts and catching subsequent macro runners at 50% capital allocation cuts net return down to +5.43%.</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1"/>
                  </a:ext>
                </a:extLst>
              </a:tr>
              <a:tr h="1190595">
                <a:tc>
                  <a:txBody>
                    <a:bodyPr/>
                    <a:lstStyle/>
                    <a:p>
                      <a:pPr marL="0" indent="0" algn="l">
                        <a:buNone/>
                      </a:pPr>
                      <a:r>
                        <a:rPr lang="en-US" sz="1600" b="1" dirty="0">
                          <a:solidFill>
                            <a:srgbClr val="B8F7C2"/>
                          </a:solidFill>
                          <a:latin typeface="IBM Plex Mono" pitchFamily="34" charset="0"/>
                          <a:ea typeface="IBM Plex Mono" pitchFamily="34" charset="-122"/>
                          <a:cs typeface="IBM Plex Mono" pitchFamily="34" charset="-120"/>
                        </a:rPr>
                        <a:t>Taker Superiority:</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tc>
                  <a:txBody>
                    <a:bodyPr/>
                    <a:lstStyle/>
                    <a:p>
                      <a:pPr marL="0" indent="0" algn="l">
                        <a:buNone/>
                      </a:pPr>
                      <a:r>
                        <a:rPr lang="en-US" sz="1600" dirty="0">
                          <a:solidFill>
                            <a:srgbClr val="B8F7C2"/>
                          </a:solidFill>
                          <a:latin typeface="IBM Plex Mono" pitchFamily="34" charset="0"/>
                          <a:ea typeface="IBM Plex Mono" pitchFamily="34" charset="-122"/>
                          <a:cs typeface="IBM Plex Mono" pitchFamily="34" charset="-120"/>
                        </a:rPr>
                        <a:t>Outsized trend-following winners easily absorb 0.05% taker fee friction, making guaranteed fill rates far more valuable than fee savings.</a:t>
                      </a:r>
                      <a:endParaRPr lang="en-US" sz="1600" dirty="0">
                        <a:latin typeface="IBM Plex Mono" charset="0"/>
                        <a:ea typeface="IBM Plex Mono" charset="0"/>
                        <a:cs typeface="IBM Plex Mono" charset="0"/>
                      </a:endParaRPr>
                    </a:p>
                  </a:txBody>
                  <a:tcPr marL="64008" marR="64008" marT="50799" marB="50799" anchor="ctr">
                    <a:lnL w="0" cap="flat" cmpd="sng" algn="ctr">
                      <a:noFill/>
                    </a:lnL>
                    <a:lnR w="0" cap="flat" cmpd="sng" algn="ctr">
                      <a:noFill/>
                    </a:lnR>
                    <a:lnT w="0" cap="flat" cmpd="sng" algn="ctr">
                      <a:noFill/>
                    </a:lnT>
                    <a:lnB w="0" cap="flat" cmpd="sng" algn="ctr">
                      <a:noFill/>
                    </a:lnB>
                    <a:solidFill>
                      <a:srgbClr val="07110C"/>
                    </a:solidFill>
                  </a:tcPr>
                </a:tc>
                <a:extLst>
                  <a:ext uri="{0D108BD9-81ED-4DB2-BD59-A6C34878D82A}">
                    <a16:rowId xmlns:a16="http://schemas.microsoft.com/office/drawing/2014/main" val="10002"/>
                  </a:ext>
                </a:extLst>
              </a:tr>
            </a:tbl>
          </a:graphicData>
        </a:graphic>
      </p:graphicFrame>
      <p:sp>
        <p:nvSpPr>
          <p:cNvPr id="7" name="Shape 3"/>
          <p:cNvSpPr/>
          <p:nvPr/>
        </p:nvSpPr>
        <p:spPr>
          <a:xfrm>
            <a:off x="203195" y="3713913"/>
            <a:ext cx="7738274" cy="12700"/>
          </a:xfrm>
          <a:prstGeom prst="rect">
            <a:avLst/>
          </a:prstGeom>
          <a:solidFill>
            <a:srgbClr val="2E6D3F"/>
          </a:solidFill>
          <a:ln/>
        </p:spPr>
      </p:sp>
      <p:sp>
        <p:nvSpPr>
          <p:cNvPr id="8" name="Shape 4"/>
          <p:cNvSpPr/>
          <p:nvPr/>
        </p:nvSpPr>
        <p:spPr>
          <a:xfrm>
            <a:off x="203195" y="5189457"/>
            <a:ext cx="7738274" cy="12700"/>
          </a:xfrm>
          <a:prstGeom prst="rect">
            <a:avLst/>
          </a:prstGeom>
          <a:solidFill>
            <a:srgbClr val="2E6D3F"/>
          </a:solidFill>
          <a:ln/>
        </p:spPr>
      </p:sp>
      <p:sp>
        <p:nvSpPr>
          <p:cNvPr id="9" name="Shape 5"/>
          <p:cNvSpPr/>
          <p:nvPr/>
        </p:nvSpPr>
        <p:spPr>
          <a:xfrm>
            <a:off x="8119264" y="25400"/>
            <a:ext cx="4047032" cy="6807200"/>
          </a:xfrm>
          <a:prstGeom prst="rect">
            <a:avLst/>
          </a:prstGeom>
          <a:solidFill>
            <a:srgbClr val="39FF6A"/>
          </a:solidFill>
          <a:ln w="12700">
            <a:solidFill>
              <a:srgbClr val="39FF6A"/>
            </a:solidFill>
            <a:prstDash val="solid"/>
          </a:ln>
        </p:spPr>
      </p:sp>
      <p:sp>
        <p:nvSpPr>
          <p:cNvPr id="10" name="Text 6"/>
          <p:cNvSpPr/>
          <p:nvPr/>
        </p:nvSpPr>
        <p:spPr>
          <a:xfrm>
            <a:off x="8297060" y="203200"/>
            <a:ext cx="3869236" cy="198438"/>
          </a:xfrm>
          <a:prstGeom prst="rect">
            <a:avLst/>
          </a:prstGeom>
          <a:noFill/>
          <a:ln/>
        </p:spPr>
        <p:txBody>
          <a:bodyPr wrap="none" lIns="0" tIns="0" rIns="0" bIns="0" rtlCol="0" anchor="t"/>
          <a:lstStyle/>
          <a:p>
            <a:pPr marL="0" indent="0" algn="l">
              <a:lnSpc>
                <a:spcPct val="104000"/>
              </a:lnSpc>
              <a:buNone/>
            </a:pPr>
            <a:r>
              <a:rPr lang="en-US" sz="1250" kern="0" spc="100" dirty="0">
                <a:solidFill>
                  <a:srgbClr val="000000"/>
                </a:solidFill>
                <a:latin typeface="IBM Plex Mono SemiBold" pitchFamily="34" charset="0"/>
                <a:ea typeface="IBM Plex Mono SemiBold" pitchFamily="34" charset="-122"/>
                <a:cs typeface="IBM Plex Mono SemiBold" pitchFamily="34" charset="-120"/>
              </a:rPr>
              <a:t>[SELECTED]</a:t>
            </a:r>
            <a:endParaRPr lang="en-US" sz="1250" dirty="0"/>
          </a:p>
        </p:txBody>
      </p:sp>
      <p:sp>
        <p:nvSpPr>
          <p:cNvPr id="11" name="Text 7"/>
          <p:cNvSpPr/>
          <p:nvPr/>
        </p:nvSpPr>
        <p:spPr>
          <a:xfrm>
            <a:off x="8297060" y="481013"/>
            <a:ext cx="3691440" cy="539750"/>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000000"/>
                </a:solidFill>
                <a:latin typeface="IBM Plex Mono Medium" pitchFamily="34" charset="0"/>
                <a:ea typeface="IBM Plex Mono Medium" pitchFamily="34" charset="-122"/>
                <a:cs typeface="IBM Plex Mono Medium" pitchFamily="34" charset="-120"/>
              </a:rPr>
              <a:t>Final Live Production Directive</a:t>
            </a:r>
            <a:endParaRPr lang="en-US" sz="1700" dirty="0"/>
          </a:p>
        </p:txBody>
      </p:sp>
      <p:graphicFrame>
        <p:nvGraphicFramePr>
          <p:cNvPr id="12" name="Table 1"/>
          <p:cNvGraphicFramePr>
            <a:graphicFrameLocks noGrp="1"/>
          </p:cNvGraphicFramePr>
          <p:nvPr>
            <p:extLst>
              <p:ext uri="{D42A27DB-BD31-4B8C-83A1-F6EECF244321}">
                <p14:modId xmlns:p14="http://schemas.microsoft.com/office/powerpoint/2010/main" val="1579011935"/>
              </p:ext>
            </p:extLst>
          </p:nvPr>
        </p:nvGraphicFramePr>
        <p:xfrm>
          <a:off x="8297060" y="1163638"/>
          <a:ext cx="3691441" cy="5083147"/>
        </p:xfrm>
        <a:graphic>
          <a:graphicData uri="http://schemas.openxmlformats.org/drawingml/2006/table">
            <a:tbl>
              <a:tblPr/>
              <a:tblGrid>
                <a:gridCol w="1255090">
                  <a:extLst>
                    <a:ext uri="{9D8B030D-6E8A-4147-A177-3AD203B41FA5}">
                      <a16:colId xmlns:a16="http://schemas.microsoft.com/office/drawing/2014/main" val="20000"/>
                    </a:ext>
                  </a:extLst>
                </a:gridCol>
                <a:gridCol w="2436351">
                  <a:extLst>
                    <a:ext uri="{9D8B030D-6E8A-4147-A177-3AD203B41FA5}">
                      <a16:colId xmlns:a16="http://schemas.microsoft.com/office/drawing/2014/main" val="20001"/>
                    </a:ext>
                  </a:extLst>
                </a:gridCol>
              </a:tblGrid>
              <a:tr h="1213713">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Historical Calibration:</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39FF6A"/>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Trained on 2024–2025 10-Minute ETH/USDT Data (N = 25,550 Bars)</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39FF6A"/>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extLst>
                  <a:ext uri="{0D108BD9-81ED-4DB2-BD59-A6C34878D82A}">
                    <a16:rowId xmlns:a16="http://schemas.microsoft.com/office/drawing/2014/main" val="10000"/>
                  </a:ext>
                </a:extLst>
              </a:tr>
              <a:tr h="1203295">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Predictive Model:</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Standalone GAF-CNN-LSTM Neural Network (Instant squeeze detection)</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extLst>
                  <a:ext uri="{0D108BD9-81ED-4DB2-BD59-A6C34878D82A}">
                    <a16:rowId xmlns:a16="http://schemas.microsoft.com/office/drawing/2014/main" val="10001"/>
                  </a:ext>
                </a:extLst>
              </a:tr>
              <a:tr h="1475544">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Execution Mode:</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Strategy 1 Clean Taker Execution (Guaranteed breakout participation)</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2E6D3F"/>
                      </a:solidFill>
                      <a:prstDash val="solid"/>
                      <a:round/>
                      <a:headEnd type="none" w="med" len="med"/>
                      <a:tailEnd type="none" w="med" len="med"/>
                    </a:lnB>
                    <a:solidFill>
                      <a:srgbClr val="39FF6A"/>
                    </a:solidFill>
                  </a:tcPr>
                </a:tc>
                <a:extLst>
                  <a:ext uri="{0D108BD9-81ED-4DB2-BD59-A6C34878D82A}">
                    <a16:rowId xmlns:a16="http://schemas.microsoft.com/office/drawing/2014/main" val="10002"/>
                  </a:ext>
                </a:extLst>
              </a:tr>
              <a:tr h="1190595">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Target Profile:</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39FF6A"/>
                      </a:solidFill>
                      <a:prstDash val="solid"/>
                      <a:round/>
                      <a:headEnd type="none" w="med" len="med"/>
                      <a:tailEnd type="none" w="med" len="med"/>
                    </a:lnB>
                    <a:solidFill>
                      <a:srgbClr val="39FF6A"/>
                    </a:solidFill>
                  </a:tcPr>
                </a:tc>
                <a:tc>
                  <a:txBody>
                    <a:bodyPr/>
                    <a:lstStyle/>
                    <a:p>
                      <a:pPr marL="0" indent="0" algn="l">
                        <a:buNone/>
                      </a:pPr>
                      <a:r>
                        <a:rPr lang="en-US" sz="1600" dirty="0">
                          <a:solidFill>
                            <a:srgbClr val="000000"/>
                          </a:solidFill>
                          <a:latin typeface="IBM Plex Mono" pitchFamily="34" charset="0"/>
                          <a:ea typeface="IBM Plex Mono" pitchFamily="34" charset="-122"/>
                          <a:cs typeface="IBM Plex Mono" pitchFamily="34" charset="-120"/>
                        </a:rPr>
                        <a:t>+14.06% Net Return | 1.55 Sharpe Ratio | -10.00% Max Drawdown</a:t>
                      </a:r>
                      <a:endParaRPr lang="en-US" sz="1600" dirty="0">
                        <a:latin typeface="IBM Plex Mono" charset="0"/>
                        <a:ea typeface="IBM Plex Mono" charset="0"/>
                        <a:cs typeface="IBM Plex Mono" charset="0"/>
                      </a:endParaRPr>
                    </a:p>
                  </a:txBody>
                  <a:tcPr marL="64008" marR="64008" marT="50799" marB="50799" anchor="ctr">
                    <a:lnL w="12700" cap="flat" cmpd="sng" algn="ctr">
                      <a:solidFill>
                        <a:srgbClr val="39FF6A"/>
                      </a:solidFill>
                      <a:prstDash val="solid"/>
                      <a:round/>
                      <a:headEnd type="none" w="med" len="med"/>
                      <a:tailEnd type="none" w="med" len="med"/>
                    </a:lnL>
                    <a:lnR w="12700" cap="flat" cmpd="sng" algn="ctr">
                      <a:solidFill>
                        <a:srgbClr val="39FF6A"/>
                      </a:solidFill>
                      <a:prstDash val="solid"/>
                      <a:round/>
                      <a:headEnd type="none" w="med" len="med"/>
                      <a:tailEnd type="none" w="med" len="med"/>
                    </a:lnR>
                    <a:lnT w="12700" cap="flat" cmpd="sng" algn="ctr">
                      <a:solidFill>
                        <a:srgbClr val="2E6D3F"/>
                      </a:solidFill>
                      <a:prstDash val="solid"/>
                      <a:round/>
                      <a:headEnd type="none" w="med" len="med"/>
                      <a:tailEnd type="none" w="med" len="med"/>
                    </a:lnT>
                    <a:lnB w="12700" cap="flat" cmpd="sng" algn="ctr">
                      <a:solidFill>
                        <a:srgbClr val="39FF6A"/>
                      </a:solidFill>
                      <a:prstDash val="solid"/>
                      <a:round/>
                      <a:headEnd type="none" w="med" len="med"/>
                      <a:tailEnd type="none" w="med" len="med"/>
                    </a:lnB>
                    <a:solidFill>
                      <a:srgbClr val="39FF6A"/>
                    </a:solid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1197</Words>
  <Application>Microsoft Office PowerPoint</Application>
  <PresentationFormat>Widescreen</PresentationFormat>
  <Paragraphs>154</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IBM Plex Mono Bold</vt:lpstr>
      <vt:lpstr>IBM Plex Mono Medium</vt:lpstr>
      <vt:lpstr>IBM Plex Mono</vt:lpstr>
      <vt:lpstr>Consolas</vt:lpstr>
      <vt:lpstr>IBM Plex Mono SemiBold</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Tathagata Dey</cp:lastModifiedBy>
  <cp:revision>5</cp:revision>
  <dcterms:created xsi:type="dcterms:W3CDTF">2026-09-27T06:45:31Z</dcterms:created>
  <dcterms:modified xsi:type="dcterms:W3CDTF">2026-09-27T07:34:58Z</dcterms:modified>
</cp:coreProperties>
</file>